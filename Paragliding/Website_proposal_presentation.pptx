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taking the time. Today I'm walking you through a proposal to give Innsbruck Paragliding a new website — the design is already done, what I'm proposing now is turning it into your actual, live site. By the end you'll know exactly what changes, how long it takes,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current site works, but it doesn't yet make it easy to book, and it doesn't fully capture what flying with you feels like. I designed this redesign around three goals: make booking the very first thing people see and do, use big photography and type so the site feels like the flight itself, and make sure you and your team can update everything — text, photos, prices — yourselves in WordPress, without needing a developer for every small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visual language before we get into features. The palette stays warm and grounded — deep night tones for drama, your terracotta orange as the one accent color that shows up on every button and highlight. Bricolage Grotesque is the display font for big confident headlines, Plus Jakarta Sans handles all the body text so it stays easy to read. And photography is full-bleed, natural light, shot from the air — the goal is that scrolling the site feels a little bit like being up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feature I want to call out — the booking widget sits right in the hero, above the fold, so it's the first thing anyone sees. They pick a flight type, pick a date, and one tap opens WhatsApp with a message already written out for you. No contact form to fill in, no waiting on an email — and you're still handling every request personally through WhatsApp exactly like you do now, we're just removing the friction before that conversation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feature: the gallery. This is where your real flight photos do the selling — no stock imagery. It's laid out full-bleed in an asymmetric grid so it doesn't feel like a boring grid of thumbnails, and clicking any photo opens it full-screen so people can browse the whole set. This is one of the sections where sending me your best shots will make the biggest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laid out so people can compare all three flights at a glance — Actionflug, Thermikflug and Premiumflug — with the Thermikflug called out as the recommended option since that's the one you fly yourselves most often. The voucher sits underneath as its own banner so gifting a flight feels like a real, separate option rather than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get to price and timeline, I want to be precise about scope, because this isn't just a homepage refresh. It's the homepage and story and gallery, plus the shop — all six flight and voucher listings, each product's own page, and the cart and checkout restyled to match. Legal pages like Impressum and Datenschutz come along too, and the whole site gets a full English translation alongside the German. Everywhere someone can land on the site, it should feel like the same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six weeks break down. Week one, I need your final photos and any text or price updates from you. Weeks two and three, I build out the homepage and core pages in WordPress. Week four is the shop — all six product pages plus cart and checkout. Week five you get to test everything on your own phone and laptop and flag anything that needs fixing. Week six, we launch, and I walk you and your team through how to update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number. All-in for the full site — homepage, shop, checkout, legal pages, English translation, testing and launch — this comes to about two thousand euros, and that also includes a year of support afterward for small changes, so if you need a price updated or a new photo dropped in next spring, that's covered, not a new invoice. I know the original conversation was around one thousand, so I want to be upfront: that figure covers a homepage-only rebuild. Once we're also redesigning the shop, six product pages, and the whole checkout flow, that's meaningfully more build work, which is why I've broken the cost down line by line here. If two thousand is a stretch right now, we can phase it — launch the new homepage first within your original budget, then do the shop and checkout as a second phase whenever you're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concrete next steps: first, let me know which way you want to go — full site now, or homepage first and shop later. Second, send over your photos, any price changes, and final text so I can start dropping real content in. Third, I get to building — six weeks from kickoff to a live site, with a walkthrough at the end so you're fully comfortable running it yourselves. Happy to answer any questions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B"/>
        </a:solidFill>
      </p:bgPr>
    </p:bg>
    <p:spTree>
      <p:nvGrpSpPr>
        <p:cNvPr id="1" name=""/>
        <p:cNvGrpSpPr/>
        <p:nvPr/>
      </p:nvGrpSpPr>
      <p:grpSpPr>
        <a:xfrm>
          <a:off x="0" y="0"/>
          <a:ext cx="0" cy="0"/>
          <a:chOff x="0" y="0"/>
          <a:chExt cx="0" cy="0"/>
        </a:xfrm>
      </p:grpSpPr>
      <p:sp>
        <p:nvSpPr>
          <p:cNvPr id="2" name="Shape 0"/>
          <p:cNvSpPr/>
          <p:nvPr/>
        </p:nvSpPr>
        <p:spPr>
          <a:xfrm>
            <a:off x="1143000" y="1066800"/>
            <a:ext cx="247650" cy="19050"/>
          </a:xfrm>
          <a:prstGeom prst="roundRect">
            <a:avLst>
              <a:gd name="adj" fmla="val 50000"/>
            </a:avLst>
          </a:prstGeom>
          <a:solidFill>
            <a:srgbClr val="E0562D"/>
          </a:solidFill>
          <a:ln/>
        </p:spPr>
      </p:sp>
      <p:sp>
        <p:nvSpPr>
          <p:cNvPr id="3" name="Text 1"/>
          <p:cNvSpPr/>
          <p:nvPr/>
        </p:nvSpPr>
        <p:spPr>
          <a:xfrm>
            <a:off x="1524000" y="952500"/>
            <a:ext cx="2702868"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E0562D"/>
                </a:solidFill>
                <a:latin typeface="Arial" pitchFamily="34" charset="0"/>
                <a:ea typeface="Arial" pitchFamily="34" charset="-122"/>
                <a:cs typeface="Arial" pitchFamily="34" charset="-120"/>
              </a:rPr>
              <a:t>WEBSITE PROPOSAL</a:t>
            </a:r>
            <a:endParaRPr lang="en-US" sz="1650" dirty="0"/>
          </a:p>
        </p:txBody>
      </p:sp>
      <p:sp>
        <p:nvSpPr>
          <p:cNvPr id="4" name="Text 2"/>
          <p:cNvSpPr/>
          <p:nvPr/>
        </p:nvSpPr>
        <p:spPr>
          <a:xfrm>
            <a:off x="16247864" y="952500"/>
            <a:ext cx="97333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FFFFFF">
                    <a:alpha val="55000"/>
                  </a:srgbClr>
                </a:solidFill>
                <a:latin typeface="Arial" pitchFamily="34" charset="0"/>
                <a:ea typeface="Arial" pitchFamily="34" charset="-122"/>
                <a:cs typeface="Arial" pitchFamily="34" charset="-120"/>
              </a:rPr>
              <a:t>July 2026</a:t>
            </a:r>
            <a:endParaRPr lang="en-US" sz="1650" dirty="0"/>
          </a:p>
        </p:txBody>
      </p:sp>
      <p:sp>
        <p:nvSpPr>
          <p:cNvPr id="5" name="Text 3"/>
          <p:cNvSpPr/>
          <p:nvPr/>
        </p:nvSpPr>
        <p:spPr>
          <a:xfrm>
            <a:off x="1143000" y="2805113"/>
            <a:ext cx="16482060" cy="2590800"/>
          </a:xfrm>
          <a:prstGeom prst="rect">
            <a:avLst/>
          </a:prstGeom>
          <a:noFill/>
          <a:ln/>
        </p:spPr>
        <p:txBody>
          <a:bodyPr wrap="square" lIns="25400" tIns="25400" rIns="25400" bIns="25400" rtlCol="0" anchor="t">
            <a:normAutofit/>
          </a:bodyPr>
          <a:lstStyle/>
          <a:p>
            <a:pPr algn="l" indent="0" marL="0">
              <a:lnSpc>
                <a:spcPct val="102000"/>
              </a:lnSpc>
              <a:buNone/>
            </a:pPr>
            <a:r>
              <a:rPr lang="en-US" sz="9900" b="1" spc="-198" kern="0" dirty="0">
                <a:solidFill>
                  <a:srgbClr val="FFFFFF"/>
                </a:solidFill>
                <a:latin typeface="Arial" pitchFamily="34" charset="0"/>
                <a:ea typeface="Arial" pitchFamily="34" charset="-122"/>
                <a:cs typeface="Arial" pitchFamily="34" charset="-120"/>
              </a:rPr>
              <a:t>Innsbruck Paragliding</a:t>
            </a:r>
            <a:pPr algn="l" indent="0" marL="0">
              <a:lnSpc>
                <a:spcPct val="102000"/>
              </a:lnSpc>
              <a:buNone/>
            </a:pPr>
            <a:r>
              <a:rPr lang="en-US" sz="9900" b="1" spc="-198" kern="0" dirty="0">
                <a:solidFill>
                  <a:srgbClr val="E0562D"/>
                </a:solidFill>
                <a:latin typeface="Arial" pitchFamily="34" charset="0"/>
                <a:ea typeface="Arial" pitchFamily="34" charset="-122"/>
                <a:cs typeface="Arial" pitchFamily="34" charset="-120"/>
              </a:rPr>
              <a:t>.</a:t>
            </a:r>
            <a:endParaRPr lang="en-US" sz="9900" dirty="0"/>
          </a:p>
        </p:txBody>
      </p:sp>
      <p:sp>
        <p:nvSpPr>
          <p:cNvPr id="6" name="Text 4"/>
          <p:cNvSpPr/>
          <p:nvPr/>
        </p:nvSpPr>
        <p:spPr>
          <a:xfrm>
            <a:off x="1143000" y="5662613"/>
            <a:ext cx="5936424" cy="14097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FFFFFF">
                    <a:alpha val="78000"/>
                  </a:srgbClr>
                </a:solidFill>
                <a:latin typeface="Arial" pitchFamily="34" charset="0"/>
                <a:ea typeface="Arial" pitchFamily="34" charset="-122"/>
                <a:cs typeface="Arial" pitchFamily="34" charset="-120"/>
              </a:rPr>
              <a:t>Redesigning the whole site — home, shop and checkout — as a live WordPress build.</a:t>
            </a:r>
            <a:endParaRPr lang="en-US" sz="2400" dirty="0"/>
          </a:p>
        </p:txBody>
      </p:sp>
      <p:sp>
        <p:nvSpPr>
          <p:cNvPr id="7" name="Shape 5"/>
          <p:cNvSpPr/>
          <p:nvPr/>
        </p:nvSpPr>
        <p:spPr>
          <a:xfrm>
            <a:off x="1143000" y="8639175"/>
            <a:ext cx="16002000" cy="9525"/>
          </a:xfrm>
          <a:prstGeom prst="rect">
            <a:avLst/>
          </a:prstGeom>
          <a:solidFill>
            <a:srgbClr val="FFFFFF">
              <a:alpha val="16000"/>
            </a:srgbClr>
          </a:solidFill>
          <a:ln/>
        </p:spPr>
      </p:sp>
      <p:sp>
        <p:nvSpPr>
          <p:cNvPr id="8" name="Text 6"/>
          <p:cNvSpPr/>
          <p:nvPr/>
        </p:nvSpPr>
        <p:spPr>
          <a:xfrm>
            <a:off x="1143000" y="8953500"/>
            <a:ext cx="7417415" cy="257175"/>
          </a:xfrm>
          <a:prstGeom prst="rect">
            <a:avLst/>
          </a:prstGeom>
          <a:noFill/>
          <a:ln/>
        </p:spPr>
        <p:txBody>
          <a:bodyPr wrap="square" lIns="25400" tIns="25400" rIns="25400" bIns="25400" rtlCol="0" anchor="t">
            <a:normAutofit/>
          </a:bodyPr>
          <a:lstStyle/>
          <a:p>
            <a:pPr algn="l" indent="0" marL="0">
              <a:buNone/>
            </a:pPr>
            <a:r>
              <a:rPr lang="en-US" sz="1500" dirty="0">
                <a:solidFill>
                  <a:srgbClr val="FFFFFF">
                    <a:alpha val="55000"/>
                  </a:srgbClr>
                </a:solidFill>
                <a:latin typeface="Arial" pitchFamily="34" charset="0"/>
                <a:ea typeface="Arial" pitchFamily="34" charset="-122"/>
                <a:cs typeface="Arial" pitchFamily="34" charset="-120"/>
              </a:rPr>
              <a:t>Prepared for</a:t>
            </a:r>
            <a:endParaRPr lang="en-US" sz="1500" dirty="0"/>
          </a:p>
        </p:txBody>
      </p:sp>
      <p:sp>
        <p:nvSpPr>
          <p:cNvPr id="9" name="Text 7"/>
          <p:cNvSpPr/>
          <p:nvPr/>
        </p:nvSpPr>
        <p:spPr>
          <a:xfrm>
            <a:off x="1143000" y="9229725"/>
            <a:ext cx="741741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Johannes Glatz &amp; Simon Klemenc, Innsbruck Paragliding</a:t>
            </a:r>
            <a:endParaRPr lang="en-US" sz="1950" dirty="0"/>
          </a:p>
        </p:txBody>
      </p:sp>
      <p:sp>
        <p:nvSpPr>
          <p:cNvPr id="10" name="Text 8"/>
          <p:cNvSpPr/>
          <p:nvPr/>
        </p:nvSpPr>
        <p:spPr>
          <a:xfrm>
            <a:off x="15297849" y="8953500"/>
            <a:ext cx="1847151" cy="257175"/>
          </a:xfrm>
          <a:prstGeom prst="rect">
            <a:avLst/>
          </a:prstGeom>
          <a:noFill/>
          <a:ln/>
        </p:spPr>
        <p:txBody>
          <a:bodyPr wrap="square" lIns="25400" tIns="25400" rIns="25400" bIns="25400" rtlCol="0" anchor="t">
            <a:normAutofit/>
          </a:bodyPr>
          <a:lstStyle/>
          <a:p>
            <a:pPr algn="r" indent="0" marL="0">
              <a:buNone/>
            </a:pPr>
            <a:r>
              <a:rPr lang="en-US" sz="1500" dirty="0">
                <a:solidFill>
                  <a:srgbClr val="FFFFFF">
                    <a:alpha val="55000"/>
                  </a:srgbClr>
                </a:solidFill>
                <a:latin typeface="Arial" pitchFamily="34" charset="0"/>
                <a:ea typeface="Arial" pitchFamily="34" charset="-122"/>
                <a:cs typeface="Arial" pitchFamily="34" charset="-120"/>
              </a:rPr>
              <a:t>Prepared by</a:t>
            </a:r>
            <a:endParaRPr lang="en-US" sz="1500" dirty="0"/>
          </a:p>
        </p:txBody>
      </p:sp>
      <p:sp>
        <p:nvSpPr>
          <p:cNvPr id="11" name="Text 9"/>
          <p:cNvSpPr/>
          <p:nvPr/>
        </p:nvSpPr>
        <p:spPr>
          <a:xfrm>
            <a:off x="15297849" y="9229725"/>
            <a:ext cx="1847151" cy="333375"/>
          </a:xfrm>
          <a:prstGeom prst="rect">
            <a:avLst/>
          </a:prstGeom>
          <a:noFill/>
          <a:ln/>
        </p:spPr>
        <p:txBody>
          <a:bodyPr wrap="square" lIns="25400" tIns="25400" rIns="25400" bIns="25400" rtlCol="0" anchor="t">
            <a:normAutofit/>
          </a:bodyPr>
          <a:lstStyle/>
          <a:p>
            <a:pPr algn="r" indent="0" marL="0">
              <a:buNone/>
            </a:pPr>
            <a:r>
              <a:rPr lang="en-US" sz="1950" b="1" dirty="0">
                <a:solidFill>
                  <a:srgbClr val="FFFFFF"/>
                </a:solidFill>
                <a:latin typeface="Arial" pitchFamily="34" charset="0"/>
                <a:ea typeface="Arial" pitchFamily="34" charset="-122"/>
                <a:cs typeface="Arial" pitchFamily="34" charset="-120"/>
              </a:rPr>
              <a:t>Yana Harcourt</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2686005"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PROJECT OVERVIEW</a:t>
            </a:r>
            <a:endParaRPr lang="en-US" sz="1650" dirty="0"/>
          </a:p>
        </p:txBody>
      </p:sp>
      <p:sp>
        <p:nvSpPr>
          <p:cNvPr id="4" name="Text 2"/>
          <p:cNvSpPr/>
          <p:nvPr/>
        </p:nvSpPr>
        <p:spPr>
          <a:xfrm>
            <a:off x="1143000" y="1466850"/>
            <a:ext cx="5587222"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Why the site needs a new home</a:t>
            </a:r>
            <a:endParaRPr lang="en-US" sz="4800" dirty="0"/>
          </a:p>
        </p:txBody>
      </p:sp>
      <p:sp>
        <p:nvSpPr>
          <p:cNvPr id="5" name="Text 3"/>
          <p:cNvSpPr/>
          <p:nvPr/>
        </p:nvSpPr>
        <p:spPr>
          <a:xfrm>
            <a:off x="1143000" y="2990850"/>
            <a:ext cx="10694177" cy="1266825"/>
          </a:xfrm>
          <a:prstGeom prst="rect">
            <a:avLst/>
          </a:prstGeom>
          <a:noFill/>
          <a:ln/>
        </p:spPr>
        <p:txBody>
          <a:bodyPr wrap="square" lIns="25400" tIns="25400" rIns="25400" bIns="25400" rtlCol="0" anchor="t">
            <a:normAutofit/>
          </a:bodyPr>
          <a:lstStyle/>
          <a:p>
            <a:pPr algn="l" indent="0" marL="0">
              <a:lnSpc>
                <a:spcPct val="155000"/>
              </a:lnSpc>
              <a:buNone/>
            </a:pPr>
            <a:r>
              <a:rPr lang="en-US" sz="2100" dirty="0">
                <a:solidFill>
                  <a:srgbClr val="5B5850"/>
                </a:solidFill>
                <a:latin typeface="Arial" pitchFamily="34" charset="0"/>
                <a:ea typeface="Arial" pitchFamily="34" charset="-122"/>
                <a:cs typeface="Arial" pitchFamily="34" charset="-120"/>
              </a:rPr>
              <a:t>The design has already been built — it just isn't live yet. This proposal covers turning that design into the WordPress site your business actually runs on, so it's easy for you to keep updating.</a:t>
            </a:r>
            <a:endParaRPr lang="en-US" sz="2100" dirty="0"/>
          </a:p>
        </p:txBody>
      </p:sp>
      <p:sp>
        <p:nvSpPr>
          <p:cNvPr id="6" name="Shape 4"/>
          <p:cNvSpPr/>
          <p:nvPr/>
        </p:nvSpPr>
        <p:spPr>
          <a:xfrm>
            <a:off x="1143000" y="4829175"/>
            <a:ext cx="5156150" cy="4695825"/>
          </a:xfrm>
          <a:prstGeom prst="roundRect">
            <a:avLst>
              <a:gd name="adj" fmla="val 5680"/>
            </a:avLst>
          </a:prstGeom>
          <a:solidFill>
            <a:srgbClr val="FFFFFF"/>
          </a:solidFill>
          <a:ln w="9525">
            <a:solidFill>
              <a:srgbClr val="1C1B19">
                <a:alpha val="10000"/>
              </a:srgbClr>
            </a:solidFill>
            <a:prstDash val="solid"/>
          </a:ln>
        </p:spPr>
      </p:sp>
      <p:sp>
        <p:nvSpPr>
          <p:cNvPr id="7" name="Text 5"/>
          <p:cNvSpPr/>
          <p:nvPr/>
        </p:nvSpPr>
        <p:spPr>
          <a:xfrm>
            <a:off x="1495425" y="5257800"/>
            <a:ext cx="4896430" cy="466725"/>
          </a:xfrm>
          <a:prstGeom prst="rect">
            <a:avLst/>
          </a:prstGeom>
          <a:noFill/>
          <a:ln/>
        </p:spPr>
        <p:txBody>
          <a:bodyPr wrap="square" lIns="25400" tIns="25400" rIns="25400" bIns="25400" rtlCol="0" anchor="t">
            <a:normAutofit/>
          </a:bodyPr>
          <a:lstStyle/>
          <a:p>
            <a:pPr algn="l" indent="0" marL="0">
              <a:buNone/>
            </a:pPr>
            <a:r>
              <a:rPr lang="en-US" sz="3000" b="1" dirty="0">
                <a:solidFill>
                  <a:srgbClr val="E0562D"/>
                </a:solidFill>
                <a:latin typeface="Arial" pitchFamily="34" charset="0"/>
                <a:ea typeface="Arial" pitchFamily="34" charset="-122"/>
                <a:cs typeface="Arial" pitchFamily="34" charset="-120"/>
              </a:rPr>
              <a:t>01</a:t>
            </a:r>
            <a:endParaRPr lang="en-US" sz="3000" dirty="0"/>
          </a:p>
        </p:txBody>
      </p:sp>
      <p:sp>
        <p:nvSpPr>
          <p:cNvPr id="8" name="Text 6"/>
          <p:cNvSpPr/>
          <p:nvPr/>
        </p:nvSpPr>
        <p:spPr>
          <a:xfrm>
            <a:off x="1495425" y="5876925"/>
            <a:ext cx="4896430"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C1B19"/>
                </a:solidFill>
                <a:latin typeface="Arial" pitchFamily="34" charset="0"/>
                <a:ea typeface="Arial" pitchFamily="34" charset="-122"/>
                <a:cs typeface="Arial" pitchFamily="34" charset="-120"/>
              </a:rPr>
              <a:t>Book in one glance</a:t>
            </a:r>
            <a:endParaRPr lang="en-US" sz="2250" dirty="0"/>
          </a:p>
        </p:txBody>
      </p:sp>
      <p:sp>
        <p:nvSpPr>
          <p:cNvPr id="9" name="Text 7"/>
          <p:cNvSpPr/>
          <p:nvPr/>
        </p:nvSpPr>
        <p:spPr>
          <a:xfrm>
            <a:off x="1495425" y="6391275"/>
            <a:ext cx="458483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B5850"/>
                </a:solidFill>
                <a:latin typeface="Arial" pitchFamily="34" charset="0"/>
                <a:ea typeface="Arial" pitchFamily="34" charset="-122"/>
                <a:cs typeface="Arial" pitchFamily="34" charset="-120"/>
              </a:rPr>
              <a:t>The flight request sits front and center on the hero — no digging for a contact form.</a:t>
            </a:r>
            <a:endParaRPr lang="en-US" sz="1800" dirty="0"/>
          </a:p>
        </p:txBody>
      </p:sp>
      <p:sp>
        <p:nvSpPr>
          <p:cNvPr id="10" name="Shape 8"/>
          <p:cNvSpPr/>
          <p:nvPr/>
        </p:nvSpPr>
        <p:spPr>
          <a:xfrm>
            <a:off x="6565850" y="4829175"/>
            <a:ext cx="5156150" cy="4695825"/>
          </a:xfrm>
          <a:prstGeom prst="roundRect">
            <a:avLst>
              <a:gd name="adj" fmla="val 5680"/>
            </a:avLst>
          </a:prstGeom>
          <a:solidFill>
            <a:srgbClr val="FFFFFF"/>
          </a:solidFill>
          <a:ln w="9525">
            <a:solidFill>
              <a:srgbClr val="1C1B19">
                <a:alpha val="10000"/>
              </a:srgbClr>
            </a:solidFill>
            <a:prstDash val="solid"/>
          </a:ln>
        </p:spPr>
      </p:sp>
      <p:sp>
        <p:nvSpPr>
          <p:cNvPr id="11" name="Text 9"/>
          <p:cNvSpPr/>
          <p:nvPr/>
        </p:nvSpPr>
        <p:spPr>
          <a:xfrm>
            <a:off x="6918275" y="5257800"/>
            <a:ext cx="4896430" cy="466725"/>
          </a:xfrm>
          <a:prstGeom prst="rect">
            <a:avLst/>
          </a:prstGeom>
          <a:noFill/>
          <a:ln/>
        </p:spPr>
        <p:txBody>
          <a:bodyPr wrap="square" lIns="25400" tIns="25400" rIns="25400" bIns="25400" rtlCol="0" anchor="t">
            <a:normAutofit/>
          </a:bodyPr>
          <a:lstStyle/>
          <a:p>
            <a:pPr algn="l" indent="0" marL="0">
              <a:buNone/>
            </a:pPr>
            <a:r>
              <a:rPr lang="en-US" sz="3000" b="1" dirty="0">
                <a:solidFill>
                  <a:srgbClr val="E0562D"/>
                </a:solidFill>
                <a:latin typeface="Arial" pitchFamily="34" charset="0"/>
                <a:ea typeface="Arial" pitchFamily="34" charset="-122"/>
                <a:cs typeface="Arial" pitchFamily="34" charset="-120"/>
              </a:rPr>
              <a:t>02</a:t>
            </a:r>
            <a:endParaRPr lang="en-US" sz="3000" dirty="0"/>
          </a:p>
        </p:txBody>
      </p:sp>
      <p:sp>
        <p:nvSpPr>
          <p:cNvPr id="12" name="Text 10"/>
          <p:cNvSpPr/>
          <p:nvPr/>
        </p:nvSpPr>
        <p:spPr>
          <a:xfrm>
            <a:off x="6918275" y="5876925"/>
            <a:ext cx="4896430"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C1B19"/>
                </a:solidFill>
                <a:latin typeface="Arial" pitchFamily="34" charset="0"/>
                <a:ea typeface="Arial" pitchFamily="34" charset="-122"/>
                <a:cs typeface="Arial" pitchFamily="34" charset="-120"/>
              </a:rPr>
              <a:t>Feel like the flight</a:t>
            </a:r>
            <a:endParaRPr lang="en-US" sz="2250" dirty="0"/>
          </a:p>
        </p:txBody>
      </p:sp>
      <p:sp>
        <p:nvSpPr>
          <p:cNvPr id="13" name="Text 11"/>
          <p:cNvSpPr/>
          <p:nvPr/>
        </p:nvSpPr>
        <p:spPr>
          <a:xfrm>
            <a:off x="6918275" y="6391275"/>
            <a:ext cx="458483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B5850"/>
                </a:solidFill>
                <a:latin typeface="Arial" pitchFamily="34" charset="0"/>
                <a:ea typeface="Arial" pitchFamily="34" charset="-122"/>
                <a:cs typeface="Arial" pitchFamily="34" charset="-120"/>
              </a:rPr>
              <a:t>Bold photography and confident type carry the adventure, not just describe it.</a:t>
            </a:r>
            <a:endParaRPr lang="en-US" sz="1800" dirty="0"/>
          </a:p>
        </p:txBody>
      </p:sp>
      <p:sp>
        <p:nvSpPr>
          <p:cNvPr id="14" name="Shape 12"/>
          <p:cNvSpPr/>
          <p:nvPr/>
        </p:nvSpPr>
        <p:spPr>
          <a:xfrm>
            <a:off x="11988701" y="4829175"/>
            <a:ext cx="5156299" cy="4695825"/>
          </a:xfrm>
          <a:prstGeom prst="roundRect">
            <a:avLst>
              <a:gd name="adj" fmla="val 5680"/>
            </a:avLst>
          </a:prstGeom>
          <a:solidFill>
            <a:srgbClr val="FFFFFF"/>
          </a:solidFill>
          <a:ln w="9525">
            <a:solidFill>
              <a:srgbClr val="1C1B19">
                <a:alpha val="10000"/>
              </a:srgbClr>
            </a:solidFill>
            <a:prstDash val="solid"/>
          </a:ln>
        </p:spPr>
      </p:sp>
      <p:sp>
        <p:nvSpPr>
          <p:cNvPr id="15" name="Text 13"/>
          <p:cNvSpPr/>
          <p:nvPr/>
        </p:nvSpPr>
        <p:spPr>
          <a:xfrm>
            <a:off x="12341126" y="5257800"/>
            <a:ext cx="4896594" cy="466725"/>
          </a:xfrm>
          <a:prstGeom prst="rect">
            <a:avLst/>
          </a:prstGeom>
          <a:noFill/>
          <a:ln/>
        </p:spPr>
        <p:txBody>
          <a:bodyPr wrap="square" lIns="25400" tIns="25400" rIns="25400" bIns="25400" rtlCol="0" anchor="t">
            <a:normAutofit/>
          </a:bodyPr>
          <a:lstStyle/>
          <a:p>
            <a:pPr algn="l" indent="0" marL="0">
              <a:buNone/>
            </a:pPr>
            <a:r>
              <a:rPr lang="en-US" sz="3000" b="1" dirty="0">
                <a:solidFill>
                  <a:srgbClr val="E0562D"/>
                </a:solidFill>
                <a:latin typeface="Arial" pitchFamily="34" charset="0"/>
                <a:ea typeface="Arial" pitchFamily="34" charset="-122"/>
                <a:cs typeface="Arial" pitchFamily="34" charset="-120"/>
              </a:rPr>
              <a:t>03</a:t>
            </a:r>
            <a:endParaRPr lang="en-US" sz="3000" dirty="0"/>
          </a:p>
        </p:txBody>
      </p:sp>
      <p:sp>
        <p:nvSpPr>
          <p:cNvPr id="16" name="Text 14"/>
          <p:cNvSpPr/>
          <p:nvPr/>
        </p:nvSpPr>
        <p:spPr>
          <a:xfrm>
            <a:off x="12341126" y="5876925"/>
            <a:ext cx="4896594" cy="361950"/>
          </a:xfrm>
          <a:prstGeom prst="rect">
            <a:avLst/>
          </a:prstGeom>
          <a:noFill/>
          <a:ln/>
        </p:spPr>
        <p:txBody>
          <a:bodyPr wrap="square" lIns="25400" tIns="25400" rIns="25400" bIns="25400" rtlCol="0" anchor="t">
            <a:normAutofit/>
          </a:bodyPr>
          <a:lstStyle/>
          <a:p>
            <a:pPr algn="l" indent="0" marL="0">
              <a:buNone/>
            </a:pPr>
            <a:r>
              <a:rPr lang="en-US" sz="2250" b="1" dirty="0">
                <a:solidFill>
                  <a:srgbClr val="1C1B19"/>
                </a:solidFill>
                <a:latin typeface="Arial" pitchFamily="34" charset="0"/>
                <a:ea typeface="Arial" pitchFamily="34" charset="-122"/>
                <a:cs typeface="Arial" pitchFamily="34" charset="-120"/>
              </a:rPr>
              <a:t>Manage it yourself</a:t>
            </a:r>
            <a:endParaRPr lang="en-US" sz="2250" dirty="0"/>
          </a:p>
        </p:txBody>
      </p:sp>
      <p:sp>
        <p:nvSpPr>
          <p:cNvPr id="17" name="Text 15"/>
          <p:cNvSpPr/>
          <p:nvPr/>
        </p:nvSpPr>
        <p:spPr>
          <a:xfrm>
            <a:off x="12341126" y="6391275"/>
            <a:ext cx="4584993"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B5850"/>
                </a:solidFill>
                <a:latin typeface="Arial" pitchFamily="34" charset="0"/>
                <a:ea typeface="Arial" pitchFamily="34" charset="-122"/>
                <a:cs typeface="Arial" pitchFamily="34" charset="-120"/>
              </a:rPr>
              <a:t>Photos, prices and text live in WordPress — update them without calling a developer.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2510671"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DESIGN DIRECTION</a:t>
            </a:r>
            <a:endParaRPr lang="en-US" sz="1650" dirty="0"/>
          </a:p>
        </p:txBody>
      </p:sp>
      <p:sp>
        <p:nvSpPr>
          <p:cNvPr id="4" name="Text 2"/>
          <p:cNvSpPr/>
          <p:nvPr/>
        </p:nvSpPr>
        <p:spPr>
          <a:xfrm>
            <a:off x="1143000" y="1466850"/>
            <a:ext cx="5587222" cy="203835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Warm, confident, built for the outdoors</a:t>
            </a:r>
            <a:endParaRPr lang="en-US" sz="4800" dirty="0"/>
          </a:p>
        </p:txBody>
      </p:sp>
      <p:sp>
        <p:nvSpPr>
          <p:cNvPr id="5" name="Text 3"/>
          <p:cNvSpPr/>
          <p:nvPr/>
        </p:nvSpPr>
        <p:spPr>
          <a:xfrm>
            <a:off x="1143000" y="4000500"/>
            <a:ext cx="8507730" cy="285750"/>
          </a:xfrm>
          <a:prstGeom prst="rect">
            <a:avLst/>
          </a:prstGeom>
          <a:noFill/>
          <a:ln/>
        </p:spPr>
        <p:txBody>
          <a:bodyPr wrap="square" lIns="25400" tIns="25400" rIns="25400" bIns="25400" rtlCol="0" anchor="t">
            <a:normAutofit/>
          </a:bodyPr>
          <a:lstStyle/>
          <a:p>
            <a:pPr algn="l" indent="0" marL="0">
              <a:buNone/>
            </a:pPr>
            <a:r>
              <a:rPr lang="en-US" sz="1650" b="1" spc="99" kern="0" dirty="0">
                <a:solidFill>
                  <a:srgbClr val="8C8880"/>
                </a:solidFill>
                <a:latin typeface="Arial" pitchFamily="34" charset="0"/>
                <a:ea typeface="Arial" pitchFamily="34" charset="-122"/>
                <a:cs typeface="Arial" pitchFamily="34" charset="-120"/>
              </a:rPr>
              <a:t>PALETTE</a:t>
            </a:r>
            <a:endParaRPr lang="en-US" sz="1650" dirty="0"/>
          </a:p>
        </p:txBody>
      </p:sp>
      <p:sp>
        <p:nvSpPr>
          <p:cNvPr id="6" name="Shape 4"/>
          <p:cNvSpPr/>
          <p:nvPr/>
        </p:nvSpPr>
        <p:spPr>
          <a:xfrm>
            <a:off x="1143000" y="4552950"/>
            <a:ext cx="1440061" cy="914400"/>
          </a:xfrm>
          <a:prstGeom prst="roundRect">
            <a:avLst>
              <a:gd name="adj" fmla="val 16667"/>
            </a:avLst>
          </a:prstGeom>
          <a:solidFill>
            <a:srgbClr val="14181B"/>
          </a:solidFill>
          <a:ln/>
        </p:spPr>
      </p:sp>
      <p:sp>
        <p:nvSpPr>
          <p:cNvPr id="7" name="Text 5"/>
          <p:cNvSpPr/>
          <p:nvPr/>
        </p:nvSpPr>
        <p:spPr>
          <a:xfrm>
            <a:off x="1143000" y="5562600"/>
            <a:ext cx="1584067" cy="257175"/>
          </a:xfrm>
          <a:prstGeom prst="rect">
            <a:avLst/>
          </a:prstGeom>
          <a:noFill/>
          <a:ln/>
        </p:spPr>
        <p:txBody>
          <a:bodyPr wrap="square" lIns="25400" tIns="25400" rIns="25400" bIns="25400" rtlCol="0" anchor="t">
            <a:normAutofit/>
          </a:bodyPr>
          <a:lstStyle/>
          <a:p>
            <a:pPr algn="l" indent="0" marL="0">
              <a:buNone/>
            </a:pPr>
            <a:r>
              <a:rPr lang="en-US" sz="1500" dirty="0">
                <a:solidFill>
                  <a:srgbClr val="5B5850"/>
                </a:solidFill>
                <a:latin typeface="Arial" pitchFamily="34" charset="0"/>
                <a:ea typeface="Arial" pitchFamily="34" charset="-122"/>
                <a:cs typeface="Arial" pitchFamily="34" charset="-120"/>
              </a:rPr>
              <a:t>Night</a:t>
            </a:r>
            <a:endParaRPr lang="en-US" sz="1500" dirty="0"/>
          </a:p>
        </p:txBody>
      </p:sp>
      <p:sp>
        <p:nvSpPr>
          <p:cNvPr id="8" name="Shape 6"/>
          <p:cNvSpPr/>
          <p:nvPr/>
        </p:nvSpPr>
        <p:spPr>
          <a:xfrm>
            <a:off x="2716411" y="4552950"/>
            <a:ext cx="1440210" cy="914400"/>
          </a:xfrm>
          <a:prstGeom prst="roundRect">
            <a:avLst>
              <a:gd name="adj" fmla="val 16667"/>
            </a:avLst>
          </a:prstGeom>
          <a:solidFill>
            <a:srgbClr val="E0562D"/>
          </a:solidFill>
          <a:ln/>
        </p:spPr>
      </p:sp>
      <p:sp>
        <p:nvSpPr>
          <p:cNvPr id="9" name="Text 7"/>
          <p:cNvSpPr/>
          <p:nvPr/>
        </p:nvSpPr>
        <p:spPr>
          <a:xfrm>
            <a:off x="2716411" y="5562600"/>
            <a:ext cx="158423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5B5850"/>
                </a:solidFill>
                <a:latin typeface="Arial" pitchFamily="34" charset="0"/>
                <a:ea typeface="Arial" pitchFamily="34" charset="-122"/>
                <a:cs typeface="Arial" pitchFamily="34" charset="-120"/>
              </a:rPr>
              <a:t>Accent</a:t>
            </a:r>
            <a:endParaRPr lang="en-US" sz="1500" dirty="0"/>
          </a:p>
        </p:txBody>
      </p:sp>
      <p:sp>
        <p:nvSpPr>
          <p:cNvPr id="10" name="Shape 8"/>
          <p:cNvSpPr/>
          <p:nvPr/>
        </p:nvSpPr>
        <p:spPr>
          <a:xfrm>
            <a:off x="4289971" y="4552950"/>
            <a:ext cx="1440210" cy="914400"/>
          </a:xfrm>
          <a:prstGeom prst="roundRect">
            <a:avLst>
              <a:gd name="adj" fmla="val 16667"/>
            </a:avLst>
          </a:prstGeom>
          <a:solidFill>
            <a:srgbClr val="B8431F"/>
          </a:solidFill>
          <a:ln/>
        </p:spPr>
      </p:sp>
      <p:sp>
        <p:nvSpPr>
          <p:cNvPr id="11" name="Text 9"/>
          <p:cNvSpPr/>
          <p:nvPr/>
        </p:nvSpPr>
        <p:spPr>
          <a:xfrm>
            <a:off x="4289971" y="5562600"/>
            <a:ext cx="158423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5B5850"/>
                </a:solidFill>
                <a:latin typeface="Arial" pitchFamily="34" charset="0"/>
                <a:ea typeface="Arial" pitchFamily="34" charset="-122"/>
                <a:cs typeface="Arial" pitchFamily="34" charset="-120"/>
              </a:rPr>
              <a:t>Accent Dark</a:t>
            </a:r>
            <a:endParaRPr lang="en-US" sz="1500" dirty="0"/>
          </a:p>
        </p:txBody>
      </p:sp>
      <p:sp>
        <p:nvSpPr>
          <p:cNvPr id="12" name="Shape 10"/>
          <p:cNvSpPr/>
          <p:nvPr/>
        </p:nvSpPr>
        <p:spPr>
          <a:xfrm>
            <a:off x="5863530" y="4552950"/>
            <a:ext cx="1440210" cy="933450"/>
          </a:xfrm>
          <a:prstGeom prst="roundRect">
            <a:avLst>
              <a:gd name="adj" fmla="val 16327"/>
            </a:avLst>
          </a:prstGeom>
          <a:solidFill>
            <a:srgbClr val="F7E2D9"/>
          </a:solidFill>
          <a:ln w="9525">
            <a:solidFill>
              <a:srgbClr val="1C1B19">
                <a:alpha val="10000"/>
              </a:srgbClr>
            </a:solidFill>
            <a:prstDash val="solid"/>
          </a:ln>
        </p:spPr>
      </p:sp>
      <p:sp>
        <p:nvSpPr>
          <p:cNvPr id="13" name="Text 11"/>
          <p:cNvSpPr/>
          <p:nvPr/>
        </p:nvSpPr>
        <p:spPr>
          <a:xfrm>
            <a:off x="5863530" y="5581650"/>
            <a:ext cx="1584231" cy="257175"/>
          </a:xfrm>
          <a:prstGeom prst="rect">
            <a:avLst/>
          </a:prstGeom>
          <a:noFill/>
          <a:ln/>
        </p:spPr>
        <p:txBody>
          <a:bodyPr wrap="square" lIns="25400" tIns="25400" rIns="25400" bIns="25400" rtlCol="0" anchor="t">
            <a:normAutofit/>
          </a:bodyPr>
          <a:lstStyle/>
          <a:p>
            <a:pPr algn="l" indent="0" marL="0">
              <a:buNone/>
            </a:pPr>
            <a:r>
              <a:rPr lang="en-US" sz="1500" dirty="0">
                <a:solidFill>
                  <a:srgbClr val="5B5850"/>
                </a:solidFill>
                <a:latin typeface="Arial" pitchFamily="34" charset="0"/>
                <a:ea typeface="Arial" pitchFamily="34" charset="-122"/>
                <a:cs typeface="Arial" pitchFamily="34" charset="-120"/>
              </a:rPr>
              <a:t>Accent Soft</a:t>
            </a:r>
            <a:endParaRPr lang="en-US" sz="1500" dirty="0"/>
          </a:p>
        </p:txBody>
      </p:sp>
      <p:sp>
        <p:nvSpPr>
          <p:cNvPr id="14" name="Shape 12"/>
          <p:cNvSpPr/>
          <p:nvPr/>
        </p:nvSpPr>
        <p:spPr>
          <a:xfrm>
            <a:off x="7437090" y="4552950"/>
            <a:ext cx="1440061" cy="933450"/>
          </a:xfrm>
          <a:prstGeom prst="roundRect">
            <a:avLst>
              <a:gd name="adj" fmla="val 16327"/>
            </a:avLst>
          </a:prstGeom>
          <a:solidFill>
            <a:srgbClr val="F7F3EC"/>
          </a:solidFill>
          <a:ln w="9525">
            <a:solidFill>
              <a:srgbClr val="1C1B19">
                <a:alpha val="10000"/>
              </a:srgbClr>
            </a:solidFill>
            <a:prstDash val="solid"/>
          </a:ln>
        </p:spPr>
      </p:sp>
      <p:sp>
        <p:nvSpPr>
          <p:cNvPr id="15" name="Text 13"/>
          <p:cNvSpPr/>
          <p:nvPr/>
        </p:nvSpPr>
        <p:spPr>
          <a:xfrm>
            <a:off x="7437090" y="5581650"/>
            <a:ext cx="1584067" cy="257175"/>
          </a:xfrm>
          <a:prstGeom prst="rect">
            <a:avLst/>
          </a:prstGeom>
          <a:noFill/>
          <a:ln/>
        </p:spPr>
        <p:txBody>
          <a:bodyPr wrap="square" lIns="25400" tIns="25400" rIns="25400" bIns="25400" rtlCol="0" anchor="t">
            <a:normAutofit/>
          </a:bodyPr>
          <a:lstStyle/>
          <a:p>
            <a:pPr algn="l" indent="0" marL="0">
              <a:buNone/>
            </a:pPr>
            <a:r>
              <a:rPr lang="en-US" sz="1500" dirty="0">
                <a:solidFill>
                  <a:srgbClr val="5B5850"/>
                </a:solidFill>
                <a:latin typeface="Arial" pitchFamily="34" charset="0"/>
                <a:ea typeface="Arial" pitchFamily="34" charset="-122"/>
                <a:cs typeface="Arial" pitchFamily="34" charset="-120"/>
              </a:rPr>
              <a:t>Warm Bg</a:t>
            </a:r>
            <a:endParaRPr lang="en-US" sz="1500" dirty="0"/>
          </a:p>
        </p:txBody>
      </p:sp>
      <p:sp>
        <p:nvSpPr>
          <p:cNvPr id="16" name="Text 14"/>
          <p:cNvSpPr/>
          <p:nvPr/>
        </p:nvSpPr>
        <p:spPr>
          <a:xfrm>
            <a:off x="1143000" y="6219825"/>
            <a:ext cx="8507730" cy="285750"/>
          </a:xfrm>
          <a:prstGeom prst="rect">
            <a:avLst/>
          </a:prstGeom>
          <a:noFill/>
          <a:ln/>
        </p:spPr>
        <p:txBody>
          <a:bodyPr wrap="square" lIns="25400" tIns="25400" rIns="25400" bIns="25400" rtlCol="0" anchor="t">
            <a:normAutofit/>
          </a:bodyPr>
          <a:lstStyle/>
          <a:p>
            <a:pPr algn="l" indent="0" marL="0">
              <a:buNone/>
            </a:pPr>
            <a:r>
              <a:rPr lang="en-US" sz="1650" b="1" spc="99" kern="0" dirty="0">
                <a:solidFill>
                  <a:srgbClr val="8C8880"/>
                </a:solidFill>
                <a:latin typeface="Arial" pitchFamily="34" charset="0"/>
                <a:ea typeface="Arial" pitchFamily="34" charset="-122"/>
                <a:cs typeface="Arial" pitchFamily="34" charset="-120"/>
              </a:rPr>
              <a:t>PHOTOGRAPHY</a:t>
            </a:r>
            <a:endParaRPr lang="en-US" sz="1650" dirty="0"/>
          </a:p>
        </p:txBody>
      </p:sp>
      <p:sp>
        <p:nvSpPr>
          <p:cNvPr id="17" name="Text 15"/>
          <p:cNvSpPr/>
          <p:nvPr/>
        </p:nvSpPr>
        <p:spPr>
          <a:xfrm>
            <a:off x="1143000" y="6772275"/>
            <a:ext cx="7966329" cy="781050"/>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5B5850"/>
                </a:solidFill>
                <a:latin typeface="Arial" pitchFamily="34" charset="0"/>
                <a:ea typeface="Arial" pitchFamily="34" charset="-122"/>
                <a:cs typeface="Arial" pitchFamily="34" charset="-120"/>
              </a:rPr>
              <a:t>Full-bleed action shots over the Stubaital, shot in natural golden-hour light — the site should feel like being in the air, not reading about it.</a:t>
            </a:r>
            <a:endParaRPr lang="en-US" sz="1950" dirty="0"/>
          </a:p>
        </p:txBody>
      </p:sp>
      <p:sp>
        <p:nvSpPr>
          <p:cNvPr id="18" name="Text 16"/>
          <p:cNvSpPr/>
          <p:nvPr/>
        </p:nvSpPr>
        <p:spPr>
          <a:xfrm>
            <a:off x="9410700" y="4000500"/>
            <a:ext cx="8507730" cy="285750"/>
          </a:xfrm>
          <a:prstGeom prst="rect">
            <a:avLst/>
          </a:prstGeom>
          <a:noFill/>
          <a:ln/>
        </p:spPr>
        <p:txBody>
          <a:bodyPr wrap="square" lIns="25400" tIns="25400" rIns="25400" bIns="25400" rtlCol="0" anchor="t">
            <a:normAutofit/>
          </a:bodyPr>
          <a:lstStyle/>
          <a:p>
            <a:pPr algn="l" indent="0" marL="0">
              <a:buNone/>
            </a:pPr>
            <a:r>
              <a:rPr lang="en-US" sz="1650" b="1" spc="99" kern="0" dirty="0">
                <a:solidFill>
                  <a:srgbClr val="8C8880"/>
                </a:solidFill>
                <a:latin typeface="Arial" pitchFamily="34" charset="0"/>
                <a:ea typeface="Arial" pitchFamily="34" charset="-122"/>
                <a:cs typeface="Arial" pitchFamily="34" charset="-120"/>
              </a:rPr>
              <a:t>TYPOGRAPHY</a:t>
            </a:r>
            <a:endParaRPr lang="en-US" sz="1650" dirty="0"/>
          </a:p>
        </p:txBody>
      </p:sp>
      <p:sp>
        <p:nvSpPr>
          <p:cNvPr id="19" name="Shape 17"/>
          <p:cNvSpPr/>
          <p:nvPr/>
        </p:nvSpPr>
        <p:spPr>
          <a:xfrm>
            <a:off x="9410700" y="4476750"/>
            <a:ext cx="7734300" cy="5048250"/>
          </a:xfrm>
          <a:prstGeom prst="roundRect">
            <a:avLst>
              <a:gd name="adj" fmla="val 5283"/>
            </a:avLst>
          </a:prstGeom>
          <a:solidFill>
            <a:srgbClr val="14181B"/>
          </a:solidFill>
          <a:ln/>
        </p:spPr>
      </p:sp>
      <p:sp>
        <p:nvSpPr>
          <p:cNvPr id="20" name="Text 18"/>
          <p:cNvSpPr/>
          <p:nvPr/>
        </p:nvSpPr>
        <p:spPr>
          <a:xfrm>
            <a:off x="9867900" y="5686425"/>
            <a:ext cx="750189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FFFFFF">
                    <a:alpha val="50000"/>
                  </a:srgbClr>
                </a:solidFill>
                <a:latin typeface="Arial" pitchFamily="34" charset="0"/>
                <a:ea typeface="Arial" pitchFamily="34" charset="-122"/>
                <a:cs typeface="Arial" pitchFamily="34" charset="-120"/>
              </a:rPr>
              <a:t>Display — Bricolage Grotesque</a:t>
            </a:r>
            <a:endParaRPr lang="en-US" sz="1500" dirty="0"/>
          </a:p>
        </p:txBody>
      </p:sp>
      <p:sp>
        <p:nvSpPr>
          <p:cNvPr id="21" name="Text 19"/>
          <p:cNvSpPr/>
          <p:nvPr/>
        </p:nvSpPr>
        <p:spPr>
          <a:xfrm>
            <a:off x="9867900" y="6019800"/>
            <a:ext cx="7501890"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We make you fly.</a:t>
            </a:r>
            <a:endParaRPr lang="en-US" sz="4200" dirty="0"/>
          </a:p>
        </p:txBody>
      </p:sp>
      <p:sp>
        <p:nvSpPr>
          <p:cNvPr id="22" name="Shape 20"/>
          <p:cNvSpPr/>
          <p:nvPr/>
        </p:nvSpPr>
        <p:spPr>
          <a:xfrm>
            <a:off x="9867900" y="6905625"/>
            <a:ext cx="6819900" cy="9525"/>
          </a:xfrm>
          <a:prstGeom prst="rect">
            <a:avLst/>
          </a:prstGeom>
          <a:solidFill>
            <a:srgbClr val="FFFFFF">
              <a:alpha val="16000"/>
            </a:srgbClr>
          </a:solidFill>
          <a:ln/>
        </p:spPr>
      </p:sp>
      <p:sp>
        <p:nvSpPr>
          <p:cNvPr id="23" name="Text 21"/>
          <p:cNvSpPr/>
          <p:nvPr/>
        </p:nvSpPr>
        <p:spPr>
          <a:xfrm>
            <a:off x="9867900" y="7181850"/>
            <a:ext cx="750189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FFFFFF">
                    <a:alpha val="50000"/>
                  </a:srgbClr>
                </a:solidFill>
                <a:latin typeface="Arial" pitchFamily="34" charset="0"/>
                <a:ea typeface="Arial" pitchFamily="34" charset="-122"/>
                <a:cs typeface="Arial" pitchFamily="34" charset="-120"/>
              </a:rPr>
              <a:t>Body — Plus Jakarta Sans</a:t>
            </a:r>
            <a:endParaRPr lang="en-US" sz="1500" dirty="0"/>
          </a:p>
        </p:txBody>
      </p:sp>
      <p:sp>
        <p:nvSpPr>
          <p:cNvPr id="24" name="Text 22"/>
          <p:cNvSpPr/>
          <p:nvPr/>
        </p:nvSpPr>
        <p:spPr>
          <a:xfrm>
            <a:off x="9867900" y="7515225"/>
            <a:ext cx="7024497"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FFFFFF">
                    <a:alpha val="85000"/>
                  </a:srgbClr>
                </a:solidFill>
                <a:latin typeface="Arial" pitchFamily="34" charset="0"/>
                <a:ea typeface="Arial" pitchFamily="34" charset="-122"/>
                <a:cs typeface="Arial" pitchFamily="34" charset="-120"/>
              </a:rPr>
              <a:t>A paar Schritte auf der Wiese — den Rest übernehmen wir.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1808187"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KEY FEATURE</a:t>
            </a:r>
            <a:endParaRPr lang="en-US" sz="1650" dirty="0"/>
          </a:p>
        </p:txBody>
      </p:sp>
      <p:sp>
        <p:nvSpPr>
          <p:cNvPr id="4" name="Text 2"/>
          <p:cNvSpPr/>
          <p:nvPr/>
        </p:nvSpPr>
        <p:spPr>
          <a:xfrm>
            <a:off x="1143000" y="3781425"/>
            <a:ext cx="4888819"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Book a flight in one step</a:t>
            </a:r>
            <a:endParaRPr lang="en-US" sz="4800" dirty="0"/>
          </a:p>
        </p:txBody>
      </p:sp>
      <p:sp>
        <p:nvSpPr>
          <p:cNvPr id="5" name="Text 3"/>
          <p:cNvSpPr/>
          <p:nvPr/>
        </p:nvSpPr>
        <p:spPr>
          <a:xfrm>
            <a:off x="1143000" y="5381625"/>
            <a:ext cx="6722050" cy="1266825"/>
          </a:xfrm>
          <a:prstGeom prst="rect">
            <a:avLst/>
          </a:prstGeom>
          <a:noFill/>
          <a:ln/>
        </p:spPr>
        <p:txBody>
          <a:bodyPr wrap="square" lIns="25400" tIns="25400" rIns="25400" bIns="25400" rtlCol="0" anchor="t">
            <a:normAutofit/>
          </a:bodyPr>
          <a:lstStyle/>
          <a:p>
            <a:pPr algn="l" indent="0" marL="0">
              <a:lnSpc>
                <a:spcPct val="155000"/>
              </a:lnSpc>
              <a:buNone/>
            </a:pPr>
            <a:r>
              <a:rPr lang="en-US" sz="2100" dirty="0">
                <a:solidFill>
                  <a:srgbClr val="5B5850"/>
                </a:solidFill>
                <a:latin typeface="Arial" pitchFamily="34" charset="0"/>
                <a:ea typeface="Arial" pitchFamily="34" charset="-122"/>
                <a:cs typeface="Arial" pitchFamily="34" charset="-120"/>
              </a:rPr>
              <a:t>Visitors pick a flight type and a date, then hit one button. It opens a pre-written WhatsApp message straight to you — no forms, no waiting on email.</a:t>
            </a:r>
            <a:endParaRPr lang="en-US" sz="2100" dirty="0"/>
          </a:p>
        </p:txBody>
      </p:sp>
      <p:sp>
        <p:nvSpPr>
          <p:cNvPr id="6" name="Text 4"/>
          <p:cNvSpPr/>
          <p:nvPr/>
        </p:nvSpPr>
        <p:spPr>
          <a:xfrm>
            <a:off x="1143000" y="6800850"/>
            <a:ext cx="7178888" cy="447675"/>
          </a:xfrm>
          <a:prstGeom prst="rect">
            <a:avLst/>
          </a:prstGeom>
          <a:noFill/>
          <a:ln/>
        </p:spPr>
        <p:txBody>
          <a:bodyPr wrap="square" lIns="25400" tIns="25400" rIns="25400" bIns="25400" rtlCol="0" anchor="t">
            <a:normAutofit/>
          </a:bodyPr>
          <a:lstStyle/>
          <a:p>
            <a:pPr algn="l" indent="0" marL="0">
              <a:lnSpc>
                <a:spcPct val="155000"/>
              </a:lnSpc>
              <a:buNone/>
            </a:pPr>
            <a:r>
              <a:rPr lang="en-US" sz="2100" dirty="0">
                <a:solidFill>
                  <a:srgbClr val="5B5850"/>
                </a:solidFill>
                <a:latin typeface="Arial" pitchFamily="34" charset="0"/>
                <a:ea typeface="Arial" pitchFamily="34" charset="-122"/>
                <a:cs typeface="Arial" pitchFamily="34" charset="-120"/>
              </a:rPr>
              <a:t>It sits on the hero, so it's the first thing anyone sees.</a:t>
            </a:r>
            <a:endParaRPr lang="en-US" sz="2100" dirty="0"/>
          </a:p>
        </p:txBody>
      </p:sp>
      <p:sp>
        <p:nvSpPr>
          <p:cNvPr id="7" name="Shape 5"/>
          <p:cNvSpPr/>
          <p:nvPr/>
        </p:nvSpPr>
        <p:spPr>
          <a:xfrm>
            <a:off x="9851529" y="3071813"/>
            <a:ext cx="7293471" cy="4848225"/>
          </a:xfrm>
          <a:prstGeom prst="roundRect">
            <a:avLst>
              <a:gd name="adj" fmla="val 6287"/>
            </a:avLst>
          </a:prstGeom>
          <a:solidFill>
            <a:srgbClr val="14181B"/>
          </a:solidFill>
          <a:ln/>
          <a:effectLst>
            <a:outerShdw sx="100000" sy="100000" kx="0" ky="0" algn="bl" rotWithShape="0" blurRad="666750" dist="381000" dir="5400000">
              <a:srgbClr val="06080A">
                <a:alpha val="55000"/>
              </a:srgbClr>
            </a:outerShdw>
          </a:effectLst>
        </p:spPr>
      </p:sp>
      <p:sp>
        <p:nvSpPr>
          <p:cNvPr id="8" name="Text 6"/>
          <p:cNvSpPr/>
          <p:nvPr/>
        </p:nvSpPr>
        <p:spPr>
          <a:xfrm>
            <a:off x="10270629" y="3524250"/>
            <a:ext cx="1939647"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Flug anfragen</a:t>
            </a:r>
            <a:endParaRPr lang="en-US" sz="2100" dirty="0"/>
          </a:p>
        </p:txBody>
      </p:sp>
      <p:sp>
        <p:nvSpPr>
          <p:cNvPr id="9" name="Shape 7"/>
          <p:cNvSpPr/>
          <p:nvPr/>
        </p:nvSpPr>
        <p:spPr>
          <a:xfrm>
            <a:off x="16354425" y="3490913"/>
            <a:ext cx="371475" cy="371475"/>
          </a:xfrm>
          <a:prstGeom prst="ellipse">
            <a:avLst/>
          </a:prstGeom>
          <a:ln w="14288">
            <a:solidFill>
              <a:srgbClr val="E0562D"/>
            </a:solidFill>
            <a:prstDash val="solid"/>
          </a:ln>
        </p:spPr>
      </p:sp>
      <p:sp>
        <p:nvSpPr>
          <p:cNvPr id="10" name="Text 8"/>
          <p:cNvSpPr/>
          <p:nvPr/>
        </p:nvSpPr>
        <p:spPr>
          <a:xfrm>
            <a:off x="10270629" y="4129088"/>
            <a:ext cx="7100798" cy="238125"/>
          </a:xfrm>
          <a:prstGeom prst="rect">
            <a:avLst/>
          </a:prstGeom>
          <a:noFill/>
          <a:ln/>
        </p:spPr>
        <p:txBody>
          <a:bodyPr wrap="square" lIns="25400" tIns="25400" rIns="25400" bIns="25400" rtlCol="0" anchor="t">
            <a:normAutofit/>
          </a:bodyPr>
          <a:lstStyle/>
          <a:p>
            <a:pPr algn="l" indent="0" marL="0">
              <a:buNone/>
            </a:pPr>
            <a:r>
              <a:rPr lang="en-US" sz="1350" spc="81" kern="0" dirty="0">
                <a:solidFill>
                  <a:srgbClr val="FFFFFF">
                    <a:alpha val="55000"/>
                  </a:srgbClr>
                </a:solidFill>
                <a:latin typeface="Arial" pitchFamily="34" charset="0"/>
                <a:ea typeface="Arial" pitchFamily="34" charset="-122"/>
                <a:cs typeface="Arial" pitchFamily="34" charset="-120"/>
              </a:rPr>
              <a:t>FLUGTYP</a:t>
            </a:r>
            <a:endParaRPr lang="en-US" sz="1350" dirty="0"/>
          </a:p>
        </p:txBody>
      </p:sp>
      <p:sp>
        <p:nvSpPr>
          <p:cNvPr id="11" name="Shape 9"/>
          <p:cNvSpPr/>
          <p:nvPr/>
        </p:nvSpPr>
        <p:spPr>
          <a:xfrm>
            <a:off x="10270629" y="4424363"/>
            <a:ext cx="6455271" cy="628650"/>
          </a:xfrm>
          <a:prstGeom prst="roundRect">
            <a:avLst>
              <a:gd name="adj" fmla="val 21212"/>
            </a:avLst>
          </a:prstGeom>
          <a:solidFill>
            <a:srgbClr val="FFFFFF">
              <a:alpha val="8000"/>
            </a:srgbClr>
          </a:solidFill>
          <a:ln w="9525">
            <a:solidFill>
              <a:srgbClr val="FFFFFF">
                <a:alpha val="16000"/>
              </a:srgbClr>
            </a:solidFill>
            <a:prstDash val="solid"/>
          </a:ln>
        </p:spPr>
      </p:sp>
      <p:sp>
        <p:nvSpPr>
          <p:cNvPr id="12" name="Text 10"/>
          <p:cNvSpPr/>
          <p:nvPr/>
        </p:nvSpPr>
        <p:spPr>
          <a:xfrm>
            <a:off x="10470654" y="4605338"/>
            <a:ext cx="624887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Thermikflug — €170</a:t>
            </a:r>
            <a:endParaRPr lang="en-US" sz="1800" dirty="0"/>
          </a:p>
        </p:txBody>
      </p:sp>
      <p:sp>
        <p:nvSpPr>
          <p:cNvPr id="13" name="Text 11"/>
          <p:cNvSpPr/>
          <p:nvPr/>
        </p:nvSpPr>
        <p:spPr>
          <a:xfrm>
            <a:off x="10270629" y="5243513"/>
            <a:ext cx="7100798" cy="238125"/>
          </a:xfrm>
          <a:prstGeom prst="rect">
            <a:avLst/>
          </a:prstGeom>
          <a:noFill/>
          <a:ln/>
        </p:spPr>
        <p:txBody>
          <a:bodyPr wrap="square" lIns="25400" tIns="25400" rIns="25400" bIns="25400" rtlCol="0" anchor="t">
            <a:normAutofit/>
          </a:bodyPr>
          <a:lstStyle/>
          <a:p>
            <a:pPr algn="l" indent="0" marL="0">
              <a:buNone/>
            </a:pPr>
            <a:r>
              <a:rPr lang="en-US" sz="1350" spc="81" kern="0" dirty="0">
                <a:solidFill>
                  <a:srgbClr val="FFFFFF">
                    <a:alpha val="55000"/>
                  </a:srgbClr>
                </a:solidFill>
                <a:latin typeface="Arial" pitchFamily="34" charset="0"/>
                <a:ea typeface="Arial" pitchFamily="34" charset="-122"/>
                <a:cs typeface="Arial" pitchFamily="34" charset="-120"/>
              </a:rPr>
              <a:t>WUNSCHTERMIN</a:t>
            </a:r>
            <a:endParaRPr lang="en-US" sz="1350" dirty="0"/>
          </a:p>
        </p:txBody>
      </p:sp>
      <p:sp>
        <p:nvSpPr>
          <p:cNvPr id="14" name="Shape 12"/>
          <p:cNvSpPr/>
          <p:nvPr/>
        </p:nvSpPr>
        <p:spPr>
          <a:xfrm>
            <a:off x="10270629" y="5538788"/>
            <a:ext cx="6455271" cy="628650"/>
          </a:xfrm>
          <a:prstGeom prst="roundRect">
            <a:avLst>
              <a:gd name="adj" fmla="val 21212"/>
            </a:avLst>
          </a:prstGeom>
          <a:solidFill>
            <a:srgbClr val="FFFFFF">
              <a:alpha val="8000"/>
            </a:srgbClr>
          </a:solidFill>
          <a:ln w="9525">
            <a:solidFill>
              <a:srgbClr val="FFFFFF">
                <a:alpha val="16000"/>
              </a:srgbClr>
            </a:solidFill>
            <a:prstDash val="solid"/>
          </a:ln>
        </p:spPr>
      </p:sp>
      <p:sp>
        <p:nvSpPr>
          <p:cNvPr id="15" name="Text 13"/>
          <p:cNvSpPr/>
          <p:nvPr/>
        </p:nvSpPr>
        <p:spPr>
          <a:xfrm>
            <a:off x="10470654" y="5719763"/>
            <a:ext cx="624887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60000"/>
                  </a:srgbClr>
                </a:solidFill>
                <a:latin typeface="Arial" pitchFamily="34" charset="0"/>
                <a:ea typeface="Arial" pitchFamily="34" charset="-122"/>
                <a:cs typeface="Arial" pitchFamily="34" charset="-120"/>
              </a:rPr>
              <a:t>TT.MM.JJJJ</a:t>
            </a:r>
            <a:endParaRPr lang="en-US" sz="1800" dirty="0"/>
          </a:p>
        </p:txBody>
      </p:sp>
      <p:sp>
        <p:nvSpPr>
          <p:cNvPr id="16" name="Shape 14"/>
          <p:cNvSpPr/>
          <p:nvPr/>
        </p:nvSpPr>
        <p:spPr>
          <a:xfrm>
            <a:off x="10270629" y="6434138"/>
            <a:ext cx="6455271" cy="676275"/>
          </a:xfrm>
          <a:prstGeom prst="roundRect">
            <a:avLst>
              <a:gd name="adj" fmla="val 50000"/>
            </a:avLst>
          </a:prstGeom>
          <a:solidFill>
            <a:srgbClr val="E0562D"/>
          </a:solidFill>
          <a:ln/>
        </p:spPr>
      </p:sp>
      <p:sp>
        <p:nvSpPr>
          <p:cNvPr id="17" name="Text 15"/>
          <p:cNvSpPr/>
          <p:nvPr/>
        </p:nvSpPr>
        <p:spPr>
          <a:xfrm>
            <a:off x="10364300" y="6624637"/>
            <a:ext cx="6267929"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Verfügbarkeit anfragen</a:t>
            </a:r>
            <a:endParaRPr lang="en-US" sz="1950" dirty="0"/>
          </a:p>
        </p:txBody>
      </p:sp>
      <p:sp>
        <p:nvSpPr>
          <p:cNvPr id="18" name="Text 16"/>
          <p:cNvSpPr/>
          <p:nvPr/>
        </p:nvSpPr>
        <p:spPr>
          <a:xfrm>
            <a:off x="9947865" y="7300913"/>
            <a:ext cx="7100798" cy="238125"/>
          </a:xfrm>
          <a:prstGeom prst="rect">
            <a:avLst/>
          </a:prstGeom>
          <a:noFill/>
          <a:ln/>
        </p:spPr>
        <p:txBody>
          <a:bodyPr wrap="square" lIns="25400" tIns="25400" rIns="25400" bIns="25400" rtlCol="0" anchor="t">
            <a:normAutofit/>
          </a:bodyPr>
          <a:lstStyle/>
          <a:p>
            <a:pPr algn="ctr" indent="0" marL="0">
              <a:buNone/>
            </a:pPr>
            <a:r>
              <a:rPr lang="en-US" sz="1350" dirty="0">
                <a:solidFill>
                  <a:srgbClr val="FFFFFF">
                    <a:alpha val="55000"/>
                  </a:srgbClr>
                </a:solidFill>
                <a:latin typeface="Arial" pitchFamily="34" charset="0"/>
                <a:ea typeface="Arial" pitchFamily="34" charset="-122"/>
                <a:cs typeface="Arial" pitchFamily="34" charset="-120"/>
              </a:rPr>
              <a:t>Antwort meist innerhalb eines Tages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1808187"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KEY FEATURE</a:t>
            </a:r>
            <a:endParaRPr lang="en-US" sz="1650" dirty="0"/>
          </a:p>
        </p:txBody>
      </p:sp>
      <p:sp>
        <p:nvSpPr>
          <p:cNvPr id="4" name="Text 2"/>
          <p:cNvSpPr/>
          <p:nvPr/>
        </p:nvSpPr>
        <p:spPr>
          <a:xfrm>
            <a:off x="1143000" y="1466850"/>
            <a:ext cx="5587222"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A gallery that sells the feeling</a:t>
            </a:r>
            <a:endParaRPr lang="en-US" sz="4800" dirty="0"/>
          </a:p>
        </p:txBody>
      </p:sp>
      <p:sp>
        <p:nvSpPr>
          <p:cNvPr id="5" name="Text 3"/>
          <p:cNvSpPr/>
          <p:nvPr/>
        </p:nvSpPr>
        <p:spPr>
          <a:xfrm>
            <a:off x="1143000" y="2952750"/>
            <a:ext cx="11420966" cy="447675"/>
          </a:xfrm>
          <a:prstGeom prst="rect">
            <a:avLst/>
          </a:prstGeom>
          <a:noFill/>
          <a:ln/>
        </p:spPr>
        <p:txBody>
          <a:bodyPr wrap="square" lIns="25400" tIns="25400" rIns="25400" bIns="25400" rtlCol="0" anchor="t">
            <a:normAutofit/>
          </a:bodyPr>
          <a:lstStyle/>
          <a:p>
            <a:pPr algn="l" indent="0" marL="0">
              <a:lnSpc>
                <a:spcPct val="155000"/>
              </a:lnSpc>
              <a:buNone/>
            </a:pPr>
            <a:r>
              <a:rPr lang="en-US" sz="2100" dirty="0">
                <a:solidFill>
                  <a:srgbClr val="5B5850"/>
                </a:solidFill>
                <a:latin typeface="Arial" pitchFamily="34" charset="0"/>
                <a:ea typeface="Arial" pitchFamily="34" charset="-122"/>
                <a:cs typeface="Arial" pitchFamily="34" charset="-120"/>
              </a:rPr>
              <a:t>Real flight photos, laid out full-bleed. Click any tile to browse the set full-screen.</a:t>
            </a:r>
            <a:endParaRPr lang="en-US" sz="2100" dirty="0"/>
          </a:p>
        </p:txBody>
      </p:sp>
      <p:sp>
        <p:nvSpPr>
          <p:cNvPr id="6" name="Shape 4"/>
          <p:cNvSpPr/>
          <p:nvPr/>
        </p:nvSpPr>
        <p:spPr>
          <a:xfrm>
            <a:off x="1143000" y="3781425"/>
            <a:ext cx="6976467" cy="5743575"/>
          </a:xfrm>
          <a:prstGeom prst="roundRect">
            <a:avLst>
              <a:gd name="adj" fmla="val 3317"/>
            </a:avLst>
          </a:prstGeom>
          <a:solidFill>
            <a:srgbClr val="EFE8D9"/>
          </a:solidFill>
          <a:ln/>
        </p:spPr>
      </p:sp>
      <p:sp>
        <p:nvSpPr>
          <p:cNvPr id="7" name="Text 5"/>
          <p:cNvSpPr/>
          <p:nvPr/>
        </p:nvSpPr>
        <p:spPr>
          <a:xfrm>
            <a:off x="1371600" y="9077325"/>
            <a:ext cx="4560659" cy="257175"/>
          </a:xfrm>
          <a:prstGeom prst="rect">
            <a:avLst/>
          </a:prstGeom>
          <a:noFill/>
          <a:ln/>
        </p:spPr>
        <p:txBody>
          <a:bodyPr wrap="square" lIns="25400" tIns="25400" rIns="25400" bIns="25400" rtlCol="0" anchor="t">
            <a:normAutofit/>
          </a:bodyPr>
          <a:lstStyle/>
          <a:p>
            <a:pPr algn="l" indent="0" marL="0">
              <a:buNone/>
            </a:pPr>
            <a:r>
              <a:rPr lang="en-US" sz="1500" spc="60" kern="0" dirty="0">
                <a:solidFill>
                  <a:srgbClr val="8C8880"/>
                </a:solidFill>
                <a:latin typeface="Courier New" pitchFamily="34" charset="0"/>
                <a:ea typeface="Courier New" pitchFamily="34" charset="-122"/>
                <a:cs typeface="Courier New" pitchFamily="34" charset="-120"/>
              </a:rPr>
              <a:t>PHOTO — GOLDEN HOUR OVER STUBAITAL</a:t>
            </a:r>
            <a:endParaRPr lang="en-US" sz="1500" dirty="0"/>
          </a:p>
        </p:txBody>
      </p:sp>
      <p:sp>
        <p:nvSpPr>
          <p:cNvPr id="8" name="Shape 6"/>
          <p:cNvSpPr/>
          <p:nvPr/>
        </p:nvSpPr>
        <p:spPr>
          <a:xfrm>
            <a:off x="8271867" y="3781425"/>
            <a:ext cx="4360366" cy="2795588"/>
          </a:xfrm>
          <a:prstGeom prst="roundRect">
            <a:avLst>
              <a:gd name="adj" fmla="val 6814"/>
            </a:avLst>
          </a:prstGeom>
          <a:solidFill>
            <a:srgbClr val="EFE8D9"/>
          </a:solidFill>
          <a:ln/>
        </p:spPr>
      </p:sp>
      <p:sp>
        <p:nvSpPr>
          <p:cNvPr id="9" name="Text 7"/>
          <p:cNvSpPr/>
          <p:nvPr/>
        </p:nvSpPr>
        <p:spPr>
          <a:xfrm>
            <a:off x="8462367" y="6186488"/>
            <a:ext cx="1584558" cy="238125"/>
          </a:xfrm>
          <a:prstGeom prst="rect">
            <a:avLst/>
          </a:prstGeom>
          <a:noFill/>
          <a:ln/>
        </p:spPr>
        <p:txBody>
          <a:bodyPr wrap="square" lIns="25400" tIns="25400" rIns="25400" bIns="25400" rtlCol="0" anchor="t">
            <a:normAutofit/>
          </a:bodyPr>
          <a:lstStyle/>
          <a:p>
            <a:pPr algn="l" indent="0" marL="0">
              <a:buNone/>
            </a:pPr>
            <a:r>
              <a:rPr lang="en-US" sz="1350" dirty="0">
                <a:solidFill>
                  <a:srgbClr val="8C8880"/>
                </a:solidFill>
                <a:latin typeface="Courier New" pitchFamily="34" charset="0"/>
                <a:ea typeface="Courier New" pitchFamily="34" charset="-122"/>
                <a:cs typeface="Courier New" pitchFamily="34" charset="-120"/>
              </a:rPr>
              <a:t>PHOTO — LAUNCH</a:t>
            </a:r>
            <a:endParaRPr lang="en-US" sz="1350" dirty="0"/>
          </a:p>
        </p:txBody>
      </p:sp>
      <p:sp>
        <p:nvSpPr>
          <p:cNvPr id="10" name="Shape 8"/>
          <p:cNvSpPr/>
          <p:nvPr/>
        </p:nvSpPr>
        <p:spPr>
          <a:xfrm>
            <a:off x="12784634" y="3781425"/>
            <a:ext cx="4360366" cy="2795588"/>
          </a:xfrm>
          <a:prstGeom prst="roundRect">
            <a:avLst>
              <a:gd name="adj" fmla="val 6814"/>
            </a:avLst>
          </a:prstGeom>
          <a:solidFill>
            <a:srgbClr val="EFE8D9"/>
          </a:solidFill>
          <a:ln/>
        </p:spPr>
      </p:sp>
      <p:sp>
        <p:nvSpPr>
          <p:cNvPr id="11" name="Text 9"/>
          <p:cNvSpPr/>
          <p:nvPr/>
        </p:nvSpPr>
        <p:spPr>
          <a:xfrm>
            <a:off x="12975134" y="6186488"/>
            <a:ext cx="1924095" cy="238125"/>
          </a:xfrm>
          <a:prstGeom prst="rect">
            <a:avLst/>
          </a:prstGeom>
          <a:noFill/>
          <a:ln/>
        </p:spPr>
        <p:txBody>
          <a:bodyPr wrap="square" lIns="25400" tIns="25400" rIns="25400" bIns="25400" rtlCol="0" anchor="t">
            <a:normAutofit/>
          </a:bodyPr>
          <a:lstStyle/>
          <a:p>
            <a:pPr algn="l" indent="0" marL="0">
              <a:buNone/>
            </a:pPr>
            <a:r>
              <a:rPr lang="en-US" sz="1350" dirty="0">
                <a:solidFill>
                  <a:srgbClr val="8C8880"/>
                </a:solidFill>
                <a:latin typeface="Courier New" pitchFamily="34" charset="0"/>
                <a:ea typeface="Courier New" pitchFamily="34" charset="-122"/>
                <a:cs typeface="Courier New" pitchFamily="34" charset="-120"/>
              </a:rPr>
              <a:t>PHOTO — NORDKETTE</a:t>
            </a:r>
            <a:endParaRPr lang="en-US" sz="1350" dirty="0"/>
          </a:p>
        </p:txBody>
      </p:sp>
      <p:sp>
        <p:nvSpPr>
          <p:cNvPr id="12" name="Shape 10"/>
          <p:cNvSpPr/>
          <p:nvPr/>
        </p:nvSpPr>
        <p:spPr>
          <a:xfrm>
            <a:off x="8271867" y="6729413"/>
            <a:ext cx="4360366" cy="2795588"/>
          </a:xfrm>
          <a:prstGeom prst="roundRect">
            <a:avLst>
              <a:gd name="adj" fmla="val 6814"/>
            </a:avLst>
          </a:prstGeom>
          <a:solidFill>
            <a:srgbClr val="EFE8D9"/>
          </a:solidFill>
          <a:ln/>
        </p:spPr>
      </p:sp>
      <p:sp>
        <p:nvSpPr>
          <p:cNvPr id="13" name="Text 11"/>
          <p:cNvSpPr/>
          <p:nvPr/>
        </p:nvSpPr>
        <p:spPr>
          <a:xfrm>
            <a:off x="8462367" y="9134475"/>
            <a:ext cx="1697682" cy="238125"/>
          </a:xfrm>
          <a:prstGeom prst="rect">
            <a:avLst/>
          </a:prstGeom>
          <a:noFill/>
          <a:ln/>
        </p:spPr>
        <p:txBody>
          <a:bodyPr wrap="square" lIns="25400" tIns="25400" rIns="25400" bIns="25400" rtlCol="0" anchor="t">
            <a:normAutofit/>
          </a:bodyPr>
          <a:lstStyle/>
          <a:p>
            <a:pPr algn="l" indent="0" marL="0">
              <a:buNone/>
            </a:pPr>
            <a:r>
              <a:rPr lang="en-US" sz="1350" dirty="0">
                <a:solidFill>
                  <a:srgbClr val="8C8880"/>
                </a:solidFill>
                <a:latin typeface="Courier New" pitchFamily="34" charset="0"/>
                <a:ea typeface="Courier New" pitchFamily="34" charset="-122"/>
                <a:cs typeface="Courier New" pitchFamily="34" charset="-120"/>
              </a:rPr>
              <a:t>PHOTO — LANDING</a:t>
            </a:r>
            <a:endParaRPr lang="en-US" sz="1350" dirty="0"/>
          </a:p>
        </p:txBody>
      </p:sp>
      <p:sp>
        <p:nvSpPr>
          <p:cNvPr id="14" name="Shape 12"/>
          <p:cNvSpPr/>
          <p:nvPr/>
        </p:nvSpPr>
        <p:spPr>
          <a:xfrm>
            <a:off x="12784634" y="6729413"/>
            <a:ext cx="4360366" cy="2795588"/>
          </a:xfrm>
          <a:prstGeom prst="roundRect">
            <a:avLst>
              <a:gd name="adj" fmla="val 6814"/>
            </a:avLst>
          </a:prstGeom>
          <a:solidFill>
            <a:srgbClr val="EFE8D9"/>
          </a:solidFill>
          <a:ln/>
        </p:spPr>
      </p:sp>
      <p:sp>
        <p:nvSpPr>
          <p:cNvPr id="15" name="Text 13"/>
          <p:cNvSpPr/>
          <p:nvPr/>
        </p:nvSpPr>
        <p:spPr>
          <a:xfrm>
            <a:off x="12975134" y="9134475"/>
            <a:ext cx="2376755" cy="238125"/>
          </a:xfrm>
          <a:prstGeom prst="rect">
            <a:avLst/>
          </a:prstGeom>
          <a:noFill/>
          <a:ln/>
        </p:spPr>
        <p:txBody>
          <a:bodyPr wrap="square" lIns="25400" tIns="25400" rIns="25400" bIns="25400" rtlCol="0" anchor="t">
            <a:normAutofit/>
          </a:bodyPr>
          <a:lstStyle/>
          <a:p>
            <a:pPr algn="l" indent="0" marL="0">
              <a:buNone/>
            </a:pPr>
            <a:r>
              <a:rPr lang="en-US" sz="1350" dirty="0">
                <a:solidFill>
                  <a:srgbClr val="8C8880"/>
                </a:solidFill>
                <a:latin typeface="Courier New" pitchFamily="34" charset="0"/>
                <a:ea typeface="Courier New" pitchFamily="34" charset="-122"/>
                <a:cs typeface="Courier New" pitchFamily="34" charset="-120"/>
              </a:rPr>
              <a:t>PHOTO — WINTER FLIGHT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1808187"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KEY FEATURE</a:t>
            </a:r>
            <a:endParaRPr lang="en-US" sz="1650" dirty="0"/>
          </a:p>
        </p:txBody>
      </p:sp>
      <p:sp>
        <p:nvSpPr>
          <p:cNvPr id="4" name="Text 2"/>
          <p:cNvSpPr/>
          <p:nvPr/>
        </p:nvSpPr>
        <p:spPr>
          <a:xfrm>
            <a:off x="1143000" y="1466850"/>
            <a:ext cx="6285625"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Pricing that's easy to compare</a:t>
            </a:r>
            <a:endParaRPr lang="en-US" sz="4800" dirty="0"/>
          </a:p>
        </p:txBody>
      </p:sp>
      <p:sp>
        <p:nvSpPr>
          <p:cNvPr id="5" name="Shape 3"/>
          <p:cNvSpPr/>
          <p:nvPr/>
        </p:nvSpPr>
        <p:spPr>
          <a:xfrm>
            <a:off x="1143000" y="3219450"/>
            <a:ext cx="5181600" cy="2457450"/>
          </a:xfrm>
          <a:prstGeom prst="roundRect">
            <a:avLst>
              <a:gd name="adj" fmla="val 10853"/>
            </a:avLst>
          </a:prstGeom>
          <a:solidFill>
            <a:srgbClr val="FFFFFF"/>
          </a:solidFill>
          <a:ln w="9525">
            <a:solidFill>
              <a:srgbClr val="1C1B19">
                <a:alpha val="10000"/>
              </a:srgbClr>
            </a:solidFill>
            <a:prstDash val="solid"/>
          </a:ln>
        </p:spPr>
      </p:sp>
      <p:sp>
        <p:nvSpPr>
          <p:cNvPr id="6" name="Text 4"/>
          <p:cNvSpPr/>
          <p:nvPr/>
        </p:nvSpPr>
        <p:spPr>
          <a:xfrm>
            <a:off x="1533525" y="3609975"/>
            <a:ext cx="1499264" cy="24765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C8880"/>
                </a:solidFill>
                <a:latin typeface="Arial" pitchFamily="34" charset="0"/>
                <a:ea typeface="Arial" pitchFamily="34" charset="-122"/>
                <a:cs typeface="Arial" pitchFamily="34" charset="-120"/>
              </a:rPr>
              <a:t>ACTIONFLUG</a:t>
            </a:r>
            <a:endParaRPr lang="en-US" sz="1500" dirty="0"/>
          </a:p>
        </p:txBody>
      </p:sp>
      <p:sp>
        <p:nvSpPr>
          <p:cNvPr id="7" name="Text 5"/>
          <p:cNvSpPr/>
          <p:nvPr/>
        </p:nvSpPr>
        <p:spPr>
          <a:xfrm>
            <a:off x="1533525" y="3981450"/>
            <a:ext cx="4840605"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1C1B19"/>
                </a:solidFill>
                <a:latin typeface="Arial" pitchFamily="34" charset="0"/>
                <a:ea typeface="Arial" pitchFamily="34" charset="-122"/>
                <a:cs typeface="Arial" pitchFamily="34" charset="-120"/>
              </a:rPr>
              <a:t>€130</a:t>
            </a:r>
            <a:endParaRPr lang="en-US" sz="4200" dirty="0"/>
          </a:p>
        </p:txBody>
      </p:sp>
      <p:sp>
        <p:nvSpPr>
          <p:cNvPr id="8" name="Text 6"/>
          <p:cNvSpPr/>
          <p:nvPr/>
        </p:nvSpPr>
        <p:spPr>
          <a:xfrm>
            <a:off x="1533525" y="4752975"/>
            <a:ext cx="3736401" cy="561975"/>
          </a:xfrm>
          <a:prstGeom prst="rect">
            <a:avLst/>
          </a:prstGeom>
          <a:noFill/>
          <a:ln/>
        </p:spPr>
        <p:txBody>
          <a:bodyPr wrap="square" lIns="25400" tIns="25400" rIns="25400" bIns="25400" rtlCol="0" anchor="t">
            <a:normAutofit/>
          </a:bodyPr>
          <a:lstStyle/>
          <a:p>
            <a:pPr algn="l" indent="0" marL="0">
              <a:buNone/>
            </a:pPr>
            <a:r>
              <a:rPr lang="en-US" sz="1800" dirty="0">
                <a:solidFill>
                  <a:srgbClr val="5B5850"/>
                </a:solidFill>
                <a:latin typeface="Arial" pitchFamily="34" charset="0"/>
                <a:ea typeface="Arial" pitchFamily="34" charset="-122"/>
                <a:cs typeface="Arial" pitchFamily="34" charset="-120"/>
              </a:rPr>
              <a:t>~10 min, wingover &amp; spirale — pure adrenaline</a:t>
            </a:r>
            <a:endParaRPr lang="en-US" sz="1800" dirty="0"/>
          </a:p>
        </p:txBody>
      </p:sp>
      <p:sp>
        <p:nvSpPr>
          <p:cNvPr id="9" name="Shape 7"/>
          <p:cNvSpPr/>
          <p:nvPr/>
        </p:nvSpPr>
        <p:spPr>
          <a:xfrm>
            <a:off x="6553200" y="3219450"/>
            <a:ext cx="5181600" cy="2457450"/>
          </a:xfrm>
          <a:prstGeom prst="roundRect">
            <a:avLst>
              <a:gd name="adj" fmla="val 10853"/>
            </a:avLst>
          </a:prstGeom>
          <a:solidFill>
            <a:srgbClr val="14181B"/>
          </a:solidFill>
          <a:ln/>
        </p:spPr>
      </p:sp>
      <p:sp>
        <p:nvSpPr>
          <p:cNvPr id="10" name="Text 8"/>
          <p:cNvSpPr/>
          <p:nvPr/>
        </p:nvSpPr>
        <p:spPr>
          <a:xfrm>
            <a:off x="6934200" y="3600450"/>
            <a:ext cx="3713476" cy="24765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E0562D"/>
                </a:solidFill>
                <a:latin typeface="Arial" pitchFamily="34" charset="0"/>
                <a:ea typeface="Arial" pitchFamily="34" charset="-122"/>
                <a:cs typeface="Arial" pitchFamily="34" charset="-120"/>
              </a:rPr>
              <a:t>THERMIKFLUG · RECOMMENDED</a:t>
            </a:r>
            <a:endParaRPr lang="en-US" sz="1500" dirty="0"/>
          </a:p>
        </p:txBody>
      </p:sp>
      <p:sp>
        <p:nvSpPr>
          <p:cNvPr id="11" name="Text 9"/>
          <p:cNvSpPr/>
          <p:nvPr/>
        </p:nvSpPr>
        <p:spPr>
          <a:xfrm>
            <a:off x="6934200" y="3971925"/>
            <a:ext cx="4861560"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€170</a:t>
            </a:r>
            <a:endParaRPr lang="en-US" sz="4200" dirty="0"/>
          </a:p>
        </p:txBody>
      </p:sp>
      <p:sp>
        <p:nvSpPr>
          <p:cNvPr id="12" name="Text 10"/>
          <p:cNvSpPr/>
          <p:nvPr/>
        </p:nvSpPr>
        <p:spPr>
          <a:xfrm>
            <a:off x="6934200" y="4743450"/>
            <a:ext cx="3669253" cy="295275"/>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78000"/>
                  </a:srgbClr>
                </a:solidFill>
                <a:latin typeface="Arial" pitchFamily="34" charset="0"/>
                <a:ea typeface="Arial" pitchFamily="34" charset="-122"/>
                <a:cs typeface="Arial" pitchFamily="34" charset="-120"/>
              </a:rPr>
              <a:t>30+ min, full mountain panorama</a:t>
            </a:r>
            <a:endParaRPr lang="en-US" sz="1800" dirty="0"/>
          </a:p>
        </p:txBody>
      </p:sp>
      <p:sp>
        <p:nvSpPr>
          <p:cNvPr id="13" name="Shape 11"/>
          <p:cNvSpPr/>
          <p:nvPr/>
        </p:nvSpPr>
        <p:spPr>
          <a:xfrm>
            <a:off x="11963400" y="3219450"/>
            <a:ext cx="5181600" cy="2457450"/>
          </a:xfrm>
          <a:prstGeom prst="roundRect">
            <a:avLst>
              <a:gd name="adj" fmla="val 10853"/>
            </a:avLst>
          </a:prstGeom>
          <a:solidFill>
            <a:srgbClr val="FFFFFF"/>
          </a:solidFill>
          <a:ln w="9525">
            <a:solidFill>
              <a:srgbClr val="1C1B19">
                <a:alpha val="10000"/>
              </a:srgbClr>
            </a:solidFill>
            <a:prstDash val="solid"/>
          </a:ln>
        </p:spPr>
      </p:sp>
      <p:sp>
        <p:nvSpPr>
          <p:cNvPr id="14" name="Text 12"/>
          <p:cNvSpPr/>
          <p:nvPr/>
        </p:nvSpPr>
        <p:spPr>
          <a:xfrm>
            <a:off x="12353925" y="3609975"/>
            <a:ext cx="1698161" cy="24765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8C8880"/>
                </a:solidFill>
                <a:latin typeface="Arial" pitchFamily="34" charset="0"/>
                <a:ea typeface="Arial" pitchFamily="34" charset="-122"/>
                <a:cs typeface="Arial" pitchFamily="34" charset="-120"/>
              </a:rPr>
              <a:t>PREMIUMFLUG</a:t>
            </a:r>
            <a:endParaRPr lang="en-US" sz="1500" dirty="0"/>
          </a:p>
        </p:txBody>
      </p:sp>
      <p:sp>
        <p:nvSpPr>
          <p:cNvPr id="15" name="Text 13"/>
          <p:cNvSpPr/>
          <p:nvPr/>
        </p:nvSpPr>
        <p:spPr>
          <a:xfrm>
            <a:off x="12353925" y="3981450"/>
            <a:ext cx="4840605"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1C1B19"/>
                </a:solidFill>
                <a:latin typeface="Arial" pitchFamily="34" charset="0"/>
                <a:ea typeface="Arial" pitchFamily="34" charset="-122"/>
                <a:cs typeface="Arial" pitchFamily="34" charset="-120"/>
              </a:rPr>
              <a:t>€200</a:t>
            </a:r>
            <a:endParaRPr lang="en-US" sz="4200" dirty="0"/>
          </a:p>
        </p:txBody>
      </p:sp>
      <p:sp>
        <p:nvSpPr>
          <p:cNvPr id="16" name="Text 14"/>
          <p:cNvSpPr/>
          <p:nvPr/>
        </p:nvSpPr>
        <p:spPr>
          <a:xfrm>
            <a:off x="12353925" y="4752975"/>
            <a:ext cx="4109308" cy="295275"/>
          </a:xfrm>
          <a:prstGeom prst="rect">
            <a:avLst/>
          </a:prstGeom>
          <a:noFill/>
          <a:ln/>
        </p:spPr>
        <p:txBody>
          <a:bodyPr wrap="square" lIns="25400" tIns="25400" rIns="25400" bIns="25400" rtlCol="0" anchor="t">
            <a:normAutofit/>
          </a:bodyPr>
          <a:lstStyle/>
          <a:p>
            <a:pPr algn="l" indent="0" marL="0">
              <a:buNone/>
            </a:pPr>
            <a:r>
              <a:rPr lang="en-US" sz="1800" dirty="0">
                <a:solidFill>
                  <a:srgbClr val="5B5850"/>
                </a:solidFill>
                <a:latin typeface="Arial" pitchFamily="34" charset="0"/>
                <a:ea typeface="Arial" pitchFamily="34" charset="-122"/>
                <a:cs typeface="Arial" pitchFamily="34" charset="-120"/>
              </a:rPr>
              <a:t>The calmest, longest flight for photos</a:t>
            </a:r>
            <a:endParaRPr lang="en-US" sz="1800" dirty="0"/>
          </a:p>
        </p:txBody>
      </p:sp>
      <p:sp>
        <p:nvSpPr>
          <p:cNvPr id="17" name="Shape 15"/>
          <p:cNvSpPr/>
          <p:nvPr/>
        </p:nvSpPr>
        <p:spPr>
          <a:xfrm>
            <a:off x="1143000" y="5905500"/>
            <a:ext cx="16002000" cy="1085850"/>
          </a:xfrm>
          <a:prstGeom prst="roundRect">
            <a:avLst>
              <a:gd name="adj" fmla="val 24561"/>
            </a:avLst>
          </a:prstGeom>
          <a:solidFill>
            <a:srgbClr val="F7E2D9"/>
          </a:solidFill>
          <a:ln/>
        </p:spPr>
      </p:sp>
      <p:sp>
        <p:nvSpPr>
          <p:cNvPr id="18" name="Text 16"/>
          <p:cNvSpPr/>
          <p:nvPr/>
        </p:nvSpPr>
        <p:spPr>
          <a:xfrm>
            <a:off x="1562100" y="6296025"/>
            <a:ext cx="6079897"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Fluggutschein — gift a flight, valid one year</a:t>
            </a:r>
            <a:endParaRPr lang="en-US" sz="2100" dirty="0"/>
          </a:p>
        </p:txBody>
      </p:sp>
      <p:sp>
        <p:nvSpPr>
          <p:cNvPr id="19" name="Text 17"/>
          <p:cNvSpPr/>
          <p:nvPr/>
        </p:nvSpPr>
        <p:spPr>
          <a:xfrm>
            <a:off x="15200263" y="6248400"/>
            <a:ext cx="1678201"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B8431F"/>
                </a:solidFill>
                <a:latin typeface="Arial" pitchFamily="34" charset="0"/>
                <a:ea typeface="Arial" pitchFamily="34" charset="-122"/>
                <a:cs typeface="Arial" pitchFamily="34" charset="-120"/>
              </a:rPr>
              <a:t>€130–170</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893713"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SCOPE</a:t>
            </a:r>
            <a:endParaRPr lang="en-US" sz="1650" dirty="0"/>
          </a:p>
        </p:txBody>
      </p:sp>
      <p:sp>
        <p:nvSpPr>
          <p:cNvPr id="4" name="Text 2"/>
          <p:cNvSpPr/>
          <p:nvPr/>
        </p:nvSpPr>
        <p:spPr>
          <a:xfrm>
            <a:off x="1143000" y="1466850"/>
            <a:ext cx="5587222"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What's included — the whole site</a:t>
            </a:r>
            <a:endParaRPr lang="en-US" sz="4800" dirty="0"/>
          </a:p>
        </p:txBody>
      </p:sp>
      <p:sp>
        <p:nvSpPr>
          <p:cNvPr id="5" name="Text 3"/>
          <p:cNvSpPr/>
          <p:nvPr/>
        </p:nvSpPr>
        <p:spPr>
          <a:xfrm>
            <a:off x="1143000" y="2952750"/>
            <a:ext cx="12222048"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5B5850"/>
                </a:solidFill>
                <a:latin typeface="Arial" pitchFamily="34" charset="0"/>
                <a:ea typeface="Arial" pitchFamily="34" charset="-122"/>
                <a:cs typeface="Arial" pitchFamily="34" charset="-120"/>
              </a:rPr>
              <a:t>Not just the homepage — the redesign carries through the shop, every flight's product page, and checkout.</a:t>
            </a:r>
            <a:endParaRPr lang="en-US" sz="2100" dirty="0"/>
          </a:p>
        </p:txBody>
      </p:sp>
      <p:sp>
        <p:nvSpPr>
          <p:cNvPr id="6" name="Text 4"/>
          <p:cNvSpPr/>
          <p:nvPr/>
        </p:nvSpPr>
        <p:spPr>
          <a:xfrm>
            <a:off x="1143000" y="4133850"/>
            <a:ext cx="8465820" cy="285750"/>
          </a:xfrm>
          <a:prstGeom prst="rect">
            <a:avLst/>
          </a:prstGeom>
          <a:noFill/>
          <a:ln/>
        </p:spPr>
        <p:txBody>
          <a:bodyPr wrap="square" lIns="25400" tIns="25400" rIns="25400" bIns="25400" rtlCol="0" anchor="t">
            <a:normAutofit/>
          </a:bodyPr>
          <a:lstStyle/>
          <a:p>
            <a:pPr algn="l" indent="0" marL="0">
              <a:buNone/>
            </a:pPr>
            <a:r>
              <a:rPr lang="en-US" sz="1650" b="1" spc="99" kern="0" dirty="0">
                <a:solidFill>
                  <a:srgbClr val="8C8880"/>
                </a:solidFill>
                <a:latin typeface="Arial" pitchFamily="34" charset="0"/>
                <a:ea typeface="Arial" pitchFamily="34" charset="-122"/>
                <a:cs typeface="Arial" pitchFamily="34" charset="-120"/>
              </a:rPr>
              <a:t>PAGES &amp; SECTIONS</a:t>
            </a:r>
            <a:endParaRPr lang="en-US" sz="1650" dirty="0"/>
          </a:p>
        </p:txBody>
      </p:sp>
      <p:sp>
        <p:nvSpPr>
          <p:cNvPr id="7" name="Shape 5"/>
          <p:cNvSpPr/>
          <p:nvPr/>
        </p:nvSpPr>
        <p:spPr>
          <a:xfrm>
            <a:off x="1143000" y="4610100"/>
            <a:ext cx="7696200" cy="9525"/>
          </a:xfrm>
          <a:prstGeom prst="rect">
            <a:avLst/>
          </a:prstGeom>
          <a:solidFill>
            <a:srgbClr val="1C1B19">
              <a:alpha val="10000"/>
            </a:srgbClr>
          </a:solidFill>
          <a:ln/>
        </p:spPr>
      </p:sp>
      <p:sp>
        <p:nvSpPr>
          <p:cNvPr id="8" name="Text 6"/>
          <p:cNvSpPr/>
          <p:nvPr/>
        </p:nvSpPr>
        <p:spPr>
          <a:xfrm>
            <a:off x="1143000" y="4752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Home — hero with flight-request widget</a:t>
            </a:r>
            <a:endParaRPr lang="en-US" sz="1950" dirty="0"/>
          </a:p>
        </p:txBody>
      </p:sp>
      <p:sp>
        <p:nvSpPr>
          <p:cNvPr id="9" name="Shape 7"/>
          <p:cNvSpPr/>
          <p:nvPr/>
        </p:nvSpPr>
        <p:spPr>
          <a:xfrm>
            <a:off x="1143000" y="5181600"/>
            <a:ext cx="7696200" cy="9525"/>
          </a:xfrm>
          <a:prstGeom prst="rect">
            <a:avLst/>
          </a:prstGeom>
          <a:solidFill>
            <a:srgbClr val="1C1B19">
              <a:alpha val="10000"/>
            </a:srgbClr>
          </a:solidFill>
          <a:ln/>
        </p:spPr>
      </p:sp>
      <p:sp>
        <p:nvSpPr>
          <p:cNvPr id="10" name="Text 8"/>
          <p:cNvSpPr/>
          <p:nvPr/>
        </p:nvSpPr>
        <p:spPr>
          <a:xfrm>
            <a:off x="1143000" y="53244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Our story, gallery &amp; how-it-works</a:t>
            </a:r>
            <a:endParaRPr lang="en-US" sz="1950" dirty="0"/>
          </a:p>
        </p:txBody>
      </p:sp>
      <p:sp>
        <p:nvSpPr>
          <p:cNvPr id="11" name="Shape 9"/>
          <p:cNvSpPr/>
          <p:nvPr/>
        </p:nvSpPr>
        <p:spPr>
          <a:xfrm>
            <a:off x="1143000" y="5753100"/>
            <a:ext cx="7696200" cy="9525"/>
          </a:xfrm>
          <a:prstGeom prst="rect">
            <a:avLst/>
          </a:prstGeom>
          <a:solidFill>
            <a:srgbClr val="1C1B19">
              <a:alpha val="10000"/>
            </a:srgbClr>
          </a:solidFill>
          <a:ln/>
        </p:spPr>
      </p:sp>
      <p:sp>
        <p:nvSpPr>
          <p:cNvPr id="12" name="Text 10"/>
          <p:cNvSpPr/>
          <p:nvPr/>
        </p:nvSpPr>
        <p:spPr>
          <a:xfrm>
            <a:off x="1143000" y="5895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Shop — all 6 flight &amp; voucher listings</a:t>
            </a:r>
            <a:endParaRPr lang="en-US" sz="1950" dirty="0"/>
          </a:p>
        </p:txBody>
      </p:sp>
      <p:sp>
        <p:nvSpPr>
          <p:cNvPr id="13" name="Shape 11"/>
          <p:cNvSpPr/>
          <p:nvPr/>
        </p:nvSpPr>
        <p:spPr>
          <a:xfrm>
            <a:off x="1143000" y="6324600"/>
            <a:ext cx="7696200" cy="9525"/>
          </a:xfrm>
          <a:prstGeom prst="rect">
            <a:avLst/>
          </a:prstGeom>
          <a:solidFill>
            <a:srgbClr val="1C1B19">
              <a:alpha val="10000"/>
            </a:srgbClr>
          </a:solidFill>
          <a:ln/>
        </p:spPr>
      </p:sp>
      <p:sp>
        <p:nvSpPr>
          <p:cNvPr id="14" name="Text 12"/>
          <p:cNvSpPr/>
          <p:nvPr/>
        </p:nvSpPr>
        <p:spPr>
          <a:xfrm>
            <a:off x="1143000" y="64674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Individual product pages per flight type</a:t>
            </a:r>
            <a:endParaRPr lang="en-US" sz="1950" dirty="0"/>
          </a:p>
        </p:txBody>
      </p:sp>
      <p:sp>
        <p:nvSpPr>
          <p:cNvPr id="15" name="Shape 13"/>
          <p:cNvSpPr/>
          <p:nvPr/>
        </p:nvSpPr>
        <p:spPr>
          <a:xfrm>
            <a:off x="1143000" y="6896100"/>
            <a:ext cx="7696200" cy="9525"/>
          </a:xfrm>
          <a:prstGeom prst="rect">
            <a:avLst/>
          </a:prstGeom>
          <a:solidFill>
            <a:srgbClr val="1C1B19">
              <a:alpha val="10000"/>
            </a:srgbClr>
          </a:solidFill>
          <a:ln/>
        </p:spPr>
      </p:sp>
      <p:sp>
        <p:nvSpPr>
          <p:cNvPr id="16" name="Text 14"/>
          <p:cNvSpPr/>
          <p:nvPr/>
        </p:nvSpPr>
        <p:spPr>
          <a:xfrm>
            <a:off x="1143000" y="7038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Cart &amp; checkout, restyled to match</a:t>
            </a:r>
            <a:endParaRPr lang="en-US" sz="1950" dirty="0"/>
          </a:p>
        </p:txBody>
      </p:sp>
      <p:sp>
        <p:nvSpPr>
          <p:cNvPr id="17" name="Shape 15"/>
          <p:cNvSpPr/>
          <p:nvPr/>
        </p:nvSpPr>
        <p:spPr>
          <a:xfrm>
            <a:off x="1143000" y="7467600"/>
            <a:ext cx="7696200" cy="9525"/>
          </a:xfrm>
          <a:prstGeom prst="rect">
            <a:avLst/>
          </a:prstGeom>
          <a:solidFill>
            <a:srgbClr val="1C1B19">
              <a:alpha val="10000"/>
            </a:srgbClr>
          </a:solidFill>
          <a:ln/>
        </p:spPr>
      </p:sp>
      <p:sp>
        <p:nvSpPr>
          <p:cNvPr id="18" name="Text 16"/>
          <p:cNvSpPr/>
          <p:nvPr/>
        </p:nvSpPr>
        <p:spPr>
          <a:xfrm>
            <a:off x="1143000" y="76104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Kontakt, Impressum &amp; Datenschutz</a:t>
            </a:r>
            <a:endParaRPr lang="en-US" sz="1950" dirty="0"/>
          </a:p>
        </p:txBody>
      </p:sp>
      <p:sp>
        <p:nvSpPr>
          <p:cNvPr id="19" name="Shape 17"/>
          <p:cNvSpPr/>
          <p:nvPr/>
        </p:nvSpPr>
        <p:spPr>
          <a:xfrm>
            <a:off x="1143000" y="8610600"/>
            <a:ext cx="7696200" cy="9525"/>
          </a:xfrm>
          <a:prstGeom prst="rect">
            <a:avLst/>
          </a:prstGeom>
          <a:solidFill>
            <a:srgbClr val="1C1B19">
              <a:alpha val="10000"/>
            </a:srgbClr>
          </a:solidFill>
          <a:ln/>
        </p:spPr>
      </p:sp>
      <p:sp>
        <p:nvSpPr>
          <p:cNvPr id="20" name="Shape 18"/>
          <p:cNvSpPr/>
          <p:nvPr/>
        </p:nvSpPr>
        <p:spPr>
          <a:xfrm>
            <a:off x="1143000" y="8039100"/>
            <a:ext cx="7696200" cy="9525"/>
          </a:xfrm>
          <a:prstGeom prst="rect">
            <a:avLst/>
          </a:prstGeom>
          <a:solidFill>
            <a:srgbClr val="1C1B19">
              <a:alpha val="10000"/>
            </a:srgbClr>
          </a:solidFill>
          <a:ln/>
        </p:spPr>
      </p:sp>
      <p:sp>
        <p:nvSpPr>
          <p:cNvPr id="21" name="Text 19"/>
          <p:cNvSpPr/>
          <p:nvPr/>
        </p:nvSpPr>
        <p:spPr>
          <a:xfrm>
            <a:off x="1143000" y="8181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Full English translation, alongside German</a:t>
            </a:r>
            <a:endParaRPr lang="en-US" sz="1950" dirty="0"/>
          </a:p>
        </p:txBody>
      </p:sp>
      <p:sp>
        <p:nvSpPr>
          <p:cNvPr id="22" name="Text 20"/>
          <p:cNvSpPr/>
          <p:nvPr/>
        </p:nvSpPr>
        <p:spPr>
          <a:xfrm>
            <a:off x="9448800" y="4133850"/>
            <a:ext cx="8465820" cy="285750"/>
          </a:xfrm>
          <a:prstGeom prst="rect">
            <a:avLst/>
          </a:prstGeom>
          <a:noFill/>
          <a:ln/>
        </p:spPr>
        <p:txBody>
          <a:bodyPr wrap="square" lIns="25400" tIns="25400" rIns="25400" bIns="25400" rtlCol="0" anchor="t">
            <a:normAutofit/>
          </a:bodyPr>
          <a:lstStyle/>
          <a:p>
            <a:pPr algn="l" indent="0" marL="0">
              <a:buNone/>
            </a:pPr>
            <a:r>
              <a:rPr lang="en-US" sz="1650" b="1" spc="99" kern="0" dirty="0">
                <a:solidFill>
                  <a:srgbClr val="8C8880"/>
                </a:solidFill>
                <a:latin typeface="Arial" pitchFamily="34" charset="0"/>
                <a:ea typeface="Arial" pitchFamily="34" charset="-122"/>
                <a:cs typeface="Arial" pitchFamily="34" charset="-120"/>
              </a:rPr>
              <a:t>BUILT IN</a:t>
            </a:r>
            <a:endParaRPr lang="en-US" sz="1650" dirty="0"/>
          </a:p>
        </p:txBody>
      </p:sp>
      <p:sp>
        <p:nvSpPr>
          <p:cNvPr id="23" name="Shape 21"/>
          <p:cNvSpPr/>
          <p:nvPr/>
        </p:nvSpPr>
        <p:spPr>
          <a:xfrm>
            <a:off x="9448800" y="4610100"/>
            <a:ext cx="7696200" cy="9525"/>
          </a:xfrm>
          <a:prstGeom prst="rect">
            <a:avLst/>
          </a:prstGeom>
          <a:solidFill>
            <a:srgbClr val="1C1B19">
              <a:alpha val="10000"/>
            </a:srgbClr>
          </a:solidFill>
          <a:ln/>
        </p:spPr>
      </p:sp>
      <p:sp>
        <p:nvSpPr>
          <p:cNvPr id="24" name="Text 22"/>
          <p:cNvSpPr/>
          <p:nvPr/>
        </p:nvSpPr>
        <p:spPr>
          <a:xfrm>
            <a:off x="9448800" y="4752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WordPress + WooCommerce, on your existing hosting</a:t>
            </a:r>
            <a:endParaRPr lang="en-US" sz="1950" dirty="0"/>
          </a:p>
        </p:txBody>
      </p:sp>
      <p:sp>
        <p:nvSpPr>
          <p:cNvPr id="25" name="Shape 23"/>
          <p:cNvSpPr/>
          <p:nvPr/>
        </p:nvSpPr>
        <p:spPr>
          <a:xfrm>
            <a:off x="9448800" y="5181600"/>
            <a:ext cx="7696200" cy="9525"/>
          </a:xfrm>
          <a:prstGeom prst="rect">
            <a:avLst/>
          </a:prstGeom>
          <a:solidFill>
            <a:srgbClr val="1C1B19">
              <a:alpha val="10000"/>
            </a:srgbClr>
          </a:solidFill>
          <a:ln/>
        </p:spPr>
      </p:sp>
      <p:sp>
        <p:nvSpPr>
          <p:cNvPr id="26" name="Text 24"/>
          <p:cNvSpPr/>
          <p:nvPr/>
        </p:nvSpPr>
        <p:spPr>
          <a:xfrm>
            <a:off x="9448800" y="53244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Editable text, photos, prices &amp; products — no code</a:t>
            </a:r>
            <a:endParaRPr lang="en-US" sz="1950" dirty="0"/>
          </a:p>
        </p:txBody>
      </p:sp>
      <p:sp>
        <p:nvSpPr>
          <p:cNvPr id="27" name="Shape 25"/>
          <p:cNvSpPr/>
          <p:nvPr/>
        </p:nvSpPr>
        <p:spPr>
          <a:xfrm>
            <a:off x="9448800" y="5753100"/>
            <a:ext cx="7696200" cy="9525"/>
          </a:xfrm>
          <a:prstGeom prst="rect">
            <a:avLst/>
          </a:prstGeom>
          <a:solidFill>
            <a:srgbClr val="1C1B19">
              <a:alpha val="10000"/>
            </a:srgbClr>
          </a:solidFill>
          <a:ln/>
        </p:spPr>
      </p:sp>
      <p:sp>
        <p:nvSpPr>
          <p:cNvPr id="28" name="Text 26"/>
          <p:cNvSpPr/>
          <p:nvPr/>
        </p:nvSpPr>
        <p:spPr>
          <a:xfrm>
            <a:off x="9448800" y="5895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Mobile-responsive from phone to desktop</a:t>
            </a:r>
            <a:endParaRPr lang="en-US" sz="1950" dirty="0"/>
          </a:p>
        </p:txBody>
      </p:sp>
      <p:sp>
        <p:nvSpPr>
          <p:cNvPr id="29" name="Shape 27"/>
          <p:cNvSpPr/>
          <p:nvPr/>
        </p:nvSpPr>
        <p:spPr>
          <a:xfrm>
            <a:off x="9448800" y="6324600"/>
            <a:ext cx="7696200" cy="9525"/>
          </a:xfrm>
          <a:prstGeom prst="rect">
            <a:avLst/>
          </a:prstGeom>
          <a:solidFill>
            <a:srgbClr val="1C1B19">
              <a:alpha val="10000"/>
            </a:srgbClr>
          </a:solidFill>
          <a:ln/>
        </p:spPr>
      </p:sp>
      <p:sp>
        <p:nvSpPr>
          <p:cNvPr id="30" name="Text 28"/>
          <p:cNvSpPr/>
          <p:nvPr/>
        </p:nvSpPr>
        <p:spPr>
          <a:xfrm>
            <a:off x="9448800" y="64674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Existing checkout &amp; payment flow, restyled not rebuilt</a:t>
            </a:r>
            <a:endParaRPr lang="en-US" sz="1950" dirty="0"/>
          </a:p>
        </p:txBody>
      </p:sp>
      <p:sp>
        <p:nvSpPr>
          <p:cNvPr id="31" name="Shape 29"/>
          <p:cNvSpPr/>
          <p:nvPr/>
        </p:nvSpPr>
        <p:spPr>
          <a:xfrm>
            <a:off x="9448800" y="7467600"/>
            <a:ext cx="7696200" cy="9525"/>
          </a:xfrm>
          <a:prstGeom prst="rect">
            <a:avLst/>
          </a:prstGeom>
          <a:solidFill>
            <a:srgbClr val="1C1B19">
              <a:alpha val="10000"/>
            </a:srgbClr>
          </a:solidFill>
          <a:ln/>
        </p:spPr>
      </p:sp>
      <p:sp>
        <p:nvSpPr>
          <p:cNvPr id="32" name="Shape 30"/>
          <p:cNvSpPr/>
          <p:nvPr/>
        </p:nvSpPr>
        <p:spPr>
          <a:xfrm>
            <a:off x="9448800" y="6896100"/>
            <a:ext cx="7696200" cy="9525"/>
          </a:xfrm>
          <a:prstGeom prst="rect">
            <a:avLst/>
          </a:prstGeom>
          <a:solidFill>
            <a:srgbClr val="1C1B19">
              <a:alpha val="10000"/>
            </a:srgbClr>
          </a:solidFill>
          <a:ln/>
        </p:spPr>
      </p:sp>
      <p:sp>
        <p:nvSpPr>
          <p:cNvPr id="33" name="Text 31"/>
          <p:cNvSpPr/>
          <p:nvPr/>
        </p:nvSpPr>
        <p:spPr>
          <a:xfrm>
            <a:off x="9448800" y="7038975"/>
            <a:ext cx="7927086"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C1B19"/>
                </a:solidFill>
                <a:latin typeface="Arial" pitchFamily="34" charset="0"/>
                <a:ea typeface="Arial" pitchFamily="34" charset="-122"/>
                <a:cs typeface="Arial" pitchFamily="34" charset="-120"/>
              </a:rPr>
              <a:t>Short handoff walkthrough after launch</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1188244"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TIMELINE</a:t>
            </a:r>
            <a:endParaRPr lang="en-US" sz="1650" dirty="0"/>
          </a:p>
        </p:txBody>
      </p:sp>
      <p:sp>
        <p:nvSpPr>
          <p:cNvPr id="4" name="Text 2"/>
          <p:cNvSpPr/>
          <p:nvPr/>
        </p:nvSpPr>
        <p:spPr>
          <a:xfrm>
            <a:off x="1143000" y="1466850"/>
            <a:ext cx="6285625"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Six weeks, kickoff to launch</a:t>
            </a:r>
            <a:endParaRPr lang="en-US" sz="4800" dirty="0"/>
          </a:p>
        </p:txBody>
      </p:sp>
      <p:sp>
        <p:nvSpPr>
          <p:cNvPr id="5" name="Shape 3"/>
          <p:cNvSpPr/>
          <p:nvPr/>
        </p:nvSpPr>
        <p:spPr>
          <a:xfrm>
            <a:off x="1143000" y="3409950"/>
            <a:ext cx="628650" cy="628650"/>
          </a:xfrm>
          <a:prstGeom prst="ellipse">
            <a:avLst/>
          </a:prstGeom>
          <a:solidFill>
            <a:srgbClr val="FFFFFF"/>
          </a:solidFill>
          <a:ln w="9525">
            <a:solidFill>
              <a:srgbClr val="1C1B19">
                <a:alpha val="10000"/>
              </a:srgbClr>
            </a:solidFill>
            <a:prstDash val="solid"/>
          </a:ln>
        </p:spPr>
      </p:sp>
      <p:sp>
        <p:nvSpPr>
          <p:cNvPr id="6" name="Text 4"/>
          <p:cNvSpPr/>
          <p:nvPr/>
        </p:nvSpPr>
        <p:spPr>
          <a:xfrm>
            <a:off x="1114425" y="3419475"/>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B8431F"/>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143000" y="4210050"/>
            <a:ext cx="3352800" cy="238125"/>
          </a:xfrm>
          <a:prstGeom prst="rect">
            <a:avLst/>
          </a:prstGeom>
          <a:noFill/>
          <a:ln/>
        </p:spPr>
        <p:txBody>
          <a:bodyPr wrap="square" lIns="25400" tIns="25400" rIns="25400" bIns="25400" rtlCol="0" anchor="t">
            <a:normAutofit/>
          </a:bodyPr>
          <a:lstStyle/>
          <a:p>
            <a:pPr algn="l" indent="0" marL="0">
              <a:buNone/>
            </a:pPr>
            <a:r>
              <a:rPr lang="en-US" sz="1350" b="1" spc="68" kern="0" dirty="0">
                <a:solidFill>
                  <a:srgbClr val="8C8880"/>
                </a:solidFill>
                <a:latin typeface="Arial" pitchFamily="34" charset="0"/>
                <a:ea typeface="Arial" pitchFamily="34" charset="-122"/>
                <a:cs typeface="Arial" pitchFamily="34" charset="-120"/>
              </a:rPr>
              <a:t>WEEK 1</a:t>
            </a:r>
            <a:endParaRPr lang="en-US" sz="1350" dirty="0"/>
          </a:p>
        </p:txBody>
      </p:sp>
      <p:sp>
        <p:nvSpPr>
          <p:cNvPr id="8" name="Text 6"/>
          <p:cNvSpPr/>
          <p:nvPr/>
        </p:nvSpPr>
        <p:spPr>
          <a:xfrm>
            <a:off x="1143000" y="4581525"/>
            <a:ext cx="335280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C1B19"/>
                </a:solidFill>
                <a:latin typeface="Arial" pitchFamily="34" charset="0"/>
                <a:ea typeface="Arial" pitchFamily="34" charset="-122"/>
                <a:cs typeface="Arial" pitchFamily="34" charset="-120"/>
              </a:rPr>
              <a:t>Content &amp; photos</a:t>
            </a:r>
            <a:endParaRPr lang="en-US" sz="1875" dirty="0"/>
          </a:p>
        </p:txBody>
      </p:sp>
      <p:sp>
        <p:nvSpPr>
          <p:cNvPr id="9" name="Text 7"/>
          <p:cNvSpPr/>
          <p:nvPr/>
        </p:nvSpPr>
        <p:spPr>
          <a:xfrm>
            <a:off x="1143000" y="5029200"/>
            <a:ext cx="313944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B5850"/>
                </a:solidFill>
                <a:latin typeface="Arial" pitchFamily="34" charset="0"/>
                <a:ea typeface="Arial" pitchFamily="34" charset="-122"/>
                <a:cs typeface="Arial" pitchFamily="34" charset="-120"/>
              </a:rPr>
              <a:t>Gather final text, photos and product details.</a:t>
            </a:r>
            <a:endParaRPr lang="en-US" sz="1650" dirty="0"/>
          </a:p>
        </p:txBody>
      </p:sp>
      <p:sp>
        <p:nvSpPr>
          <p:cNvPr id="10" name="Shape 8"/>
          <p:cNvSpPr/>
          <p:nvPr/>
        </p:nvSpPr>
        <p:spPr>
          <a:xfrm>
            <a:off x="4381500" y="3409950"/>
            <a:ext cx="628650" cy="628650"/>
          </a:xfrm>
          <a:prstGeom prst="ellipse">
            <a:avLst/>
          </a:prstGeom>
          <a:solidFill>
            <a:srgbClr val="FFFFFF"/>
          </a:solidFill>
          <a:ln w="9525">
            <a:solidFill>
              <a:srgbClr val="1C1B19">
                <a:alpha val="10000"/>
              </a:srgbClr>
            </a:solidFill>
            <a:prstDash val="solid"/>
          </a:ln>
        </p:spPr>
      </p:sp>
      <p:sp>
        <p:nvSpPr>
          <p:cNvPr id="11" name="Text 9"/>
          <p:cNvSpPr/>
          <p:nvPr/>
        </p:nvSpPr>
        <p:spPr>
          <a:xfrm>
            <a:off x="4352925" y="3419475"/>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B8431F"/>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4381500" y="4210050"/>
            <a:ext cx="3352800" cy="238125"/>
          </a:xfrm>
          <a:prstGeom prst="rect">
            <a:avLst/>
          </a:prstGeom>
          <a:noFill/>
          <a:ln/>
        </p:spPr>
        <p:txBody>
          <a:bodyPr wrap="square" lIns="25400" tIns="25400" rIns="25400" bIns="25400" rtlCol="0" anchor="t">
            <a:normAutofit/>
          </a:bodyPr>
          <a:lstStyle/>
          <a:p>
            <a:pPr algn="l" indent="0" marL="0">
              <a:buNone/>
            </a:pPr>
            <a:r>
              <a:rPr lang="en-US" sz="1350" b="1" spc="68" kern="0" dirty="0">
                <a:solidFill>
                  <a:srgbClr val="8C8880"/>
                </a:solidFill>
                <a:latin typeface="Arial" pitchFamily="34" charset="0"/>
                <a:ea typeface="Arial" pitchFamily="34" charset="-122"/>
                <a:cs typeface="Arial" pitchFamily="34" charset="-120"/>
              </a:rPr>
              <a:t>WEEKS 2–3</a:t>
            </a:r>
            <a:endParaRPr lang="en-US" sz="1350" dirty="0"/>
          </a:p>
        </p:txBody>
      </p:sp>
      <p:sp>
        <p:nvSpPr>
          <p:cNvPr id="13" name="Text 11"/>
          <p:cNvSpPr/>
          <p:nvPr/>
        </p:nvSpPr>
        <p:spPr>
          <a:xfrm>
            <a:off x="4381500" y="4581525"/>
            <a:ext cx="335280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C1B19"/>
                </a:solidFill>
                <a:latin typeface="Arial" pitchFamily="34" charset="0"/>
                <a:ea typeface="Arial" pitchFamily="34" charset="-122"/>
                <a:cs typeface="Arial" pitchFamily="34" charset="-120"/>
              </a:rPr>
              <a:t>Core pages build</a:t>
            </a:r>
            <a:endParaRPr lang="en-US" sz="1875" dirty="0"/>
          </a:p>
        </p:txBody>
      </p:sp>
      <p:sp>
        <p:nvSpPr>
          <p:cNvPr id="14" name="Text 12"/>
          <p:cNvSpPr/>
          <p:nvPr/>
        </p:nvSpPr>
        <p:spPr>
          <a:xfrm>
            <a:off x="4381500" y="5029200"/>
            <a:ext cx="313944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B5850"/>
                </a:solidFill>
                <a:latin typeface="Arial" pitchFamily="34" charset="0"/>
                <a:ea typeface="Arial" pitchFamily="34" charset="-122"/>
                <a:cs typeface="Arial" pitchFamily="34" charset="-120"/>
              </a:rPr>
              <a:t>Home, story, gallery and process go live in WordPress.</a:t>
            </a:r>
            <a:endParaRPr lang="en-US" sz="1650" dirty="0"/>
          </a:p>
        </p:txBody>
      </p:sp>
      <p:sp>
        <p:nvSpPr>
          <p:cNvPr id="15" name="Shape 13"/>
          <p:cNvSpPr/>
          <p:nvPr/>
        </p:nvSpPr>
        <p:spPr>
          <a:xfrm>
            <a:off x="7620000" y="3409950"/>
            <a:ext cx="628650" cy="628650"/>
          </a:xfrm>
          <a:prstGeom prst="ellipse">
            <a:avLst/>
          </a:prstGeom>
          <a:solidFill>
            <a:srgbClr val="FFFFFF"/>
          </a:solidFill>
          <a:ln w="9525">
            <a:solidFill>
              <a:srgbClr val="1C1B19">
                <a:alpha val="10000"/>
              </a:srgbClr>
            </a:solidFill>
            <a:prstDash val="solid"/>
          </a:ln>
        </p:spPr>
      </p:sp>
      <p:sp>
        <p:nvSpPr>
          <p:cNvPr id="16" name="Text 14"/>
          <p:cNvSpPr/>
          <p:nvPr/>
        </p:nvSpPr>
        <p:spPr>
          <a:xfrm>
            <a:off x="7591425" y="3419475"/>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B8431F"/>
                </a:solidFill>
                <a:latin typeface="Arial" pitchFamily="34" charset="0"/>
                <a:ea typeface="Arial" pitchFamily="34" charset="-122"/>
                <a:cs typeface="Arial" pitchFamily="34" charset="-120"/>
              </a:rPr>
              <a:t>03</a:t>
            </a:r>
            <a:endParaRPr lang="en-US" sz="1800" dirty="0"/>
          </a:p>
        </p:txBody>
      </p:sp>
      <p:sp>
        <p:nvSpPr>
          <p:cNvPr id="17" name="Text 15"/>
          <p:cNvSpPr/>
          <p:nvPr/>
        </p:nvSpPr>
        <p:spPr>
          <a:xfrm>
            <a:off x="7620000" y="4210050"/>
            <a:ext cx="3352800" cy="238125"/>
          </a:xfrm>
          <a:prstGeom prst="rect">
            <a:avLst/>
          </a:prstGeom>
          <a:noFill/>
          <a:ln/>
        </p:spPr>
        <p:txBody>
          <a:bodyPr wrap="square" lIns="25400" tIns="25400" rIns="25400" bIns="25400" rtlCol="0" anchor="t">
            <a:normAutofit/>
          </a:bodyPr>
          <a:lstStyle/>
          <a:p>
            <a:pPr algn="l" indent="0" marL="0">
              <a:buNone/>
            </a:pPr>
            <a:r>
              <a:rPr lang="en-US" sz="1350" b="1" spc="68" kern="0" dirty="0">
                <a:solidFill>
                  <a:srgbClr val="8C8880"/>
                </a:solidFill>
                <a:latin typeface="Arial" pitchFamily="34" charset="0"/>
                <a:ea typeface="Arial" pitchFamily="34" charset="-122"/>
                <a:cs typeface="Arial" pitchFamily="34" charset="-120"/>
              </a:rPr>
              <a:t>WEEK 4</a:t>
            </a:r>
            <a:endParaRPr lang="en-US" sz="1350" dirty="0"/>
          </a:p>
        </p:txBody>
      </p:sp>
      <p:sp>
        <p:nvSpPr>
          <p:cNvPr id="18" name="Text 16"/>
          <p:cNvSpPr/>
          <p:nvPr/>
        </p:nvSpPr>
        <p:spPr>
          <a:xfrm>
            <a:off x="7620000" y="4581525"/>
            <a:ext cx="335280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C1B19"/>
                </a:solidFill>
                <a:latin typeface="Arial" pitchFamily="34" charset="0"/>
                <a:ea typeface="Arial" pitchFamily="34" charset="-122"/>
                <a:cs typeface="Arial" pitchFamily="34" charset="-120"/>
              </a:rPr>
              <a:t>Shop &amp; checkout</a:t>
            </a:r>
            <a:endParaRPr lang="en-US" sz="1875" dirty="0"/>
          </a:p>
        </p:txBody>
      </p:sp>
      <p:sp>
        <p:nvSpPr>
          <p:cNvPr id="19" name="Text 17"/>
          <p:cNvSpPr/>
          <p:nvPr/>
        </p:nvSpPr>
        <p:spPr>
          <a:xfrm>
            <a:off x="7620000" y="5029200"/>
            <a:ext cx="313944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B5850"/>
                </a:solidFill>
                <a:latin typeface="Arial" pitchFamily="34" charset="0"/>
                <a:ea typeface="Arial" pitchFamily="34" charset="-122"/>
                <a:cs typeface="Arial" pitchFamily="34" charset="-120"/>
              </a:rPr>
              <a:t>All 6 product pages, cart and checkout restyled.</a:t>
            </a:r>
            <a:endParaRPr lang="en-US" sz="1650" dirty="0"/>
          </a:p>
        </p:txBody>
      </p:sp>
      <p:sp>
        <p:nvSpPr>
          <p:cNvPr id="20" name="Shape 18"/>
          <p:cNvSpPr/>
          <p:nvPr/>
        </p:nvSpPr>
        <p:spPr>
          <a:xfrm>
            <a:off x="10858500" y="3409950"/>
            <a:ext cx="628650" cy="628650"/>
          </a:xfrm>
          <a:prstGeom prst="ellipse">
            <a:avLst/>
          </a:prstGeom>
          <a:solidFill>
            <a:srgbClr val="FFFFFF"/>
          </a:solidFill>
          <a:ln w="9525">
            <a:solidFill>
              <a:srgbClr val="1C1B19">
                <a:alpha val="10000"/>
              </a:srgbClr>
            </a:solidFill>
            <a:prstDash val="solid"/>
          </a:ln>
        </p:spPr>
      </p:sp>
      <p:sp>
        <p:nvSpPr>
          <p:cNvPr id="21" name="Text 19"/>
          <p:cNvSpPr/>
          <p:nvPr/>
        </p:nvSpPr>
        <p:spPr>
          <a:xfrm>
            <a:off x="10829925" y="3419475"/>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B8431F"/>
                </a:solidFill>
                <a:latin typeface="Arial" pitchFamily="34" charset="0"/>
                <a:ea typeface="Arial" pitchFamily="34" charset="-122"/>
                <a:cs typeface="Arial" pitchFamily="34" charset="-120"/>
              </a:rPr>
              <a:t>04</a:t>
            </a:r>
            <a:endParaRPr lang="en-US" sz="1800" dirty="0"/>
          </a:p>
        </p:txBody>
      </p:sp>
      <p:sp>
        <p:nvSpPr>
          <p:cNvPr id="22" name="Text 20"/>
          <p:cNvSpPr/>
          <p:nvPr/>
        </p:nvSpPr>
        <p:spPr>
          <a:xfrm>
            <a:off x="10858500" y="4210050"/>
            <a:ext cx="3352800" cy="238125"/>
          </a:xfrm>
          <a:prstGeom prst="rect">
            <a:avLst/>
          </a:prstGeom>
          <a:noFill/>
          <a:ln/>
        </p:spPr>
        <p:txBody>
          <a:bodyPr wrap="square" lIns="25400" tIns="25400" rIns="25400" bIns="25400" rtlCol="0" anchor="t">
            <a:normAutofit/>
          </a:bodyPr>
          <a:lstStyle/>
          <a:p>
            <a:pPr algn="l" indent="0" marL="0">
              <a:buNone/>
            </a:pPr>
            <a:r>
              <a:rPr lang="en-US" sz="1350" b="1" spc="68" kern="0" dirty="0">
                <a:solidFill>
                  <a:srgbClr val="8C8880"/>
                </a:solidFill>
                <a:latin typeface="Arial" pitchFamily="34" charset="0"/>
                <a:ea typeface="Arial" pitchFamily="34" charset="-122"/>
                <a:cs typeface="Arial" pitchFamily="34" charset="-120"/>
              </a:rPr>
              <a:t>WEEK 5</a:t>
            </a:r>
            <a:endParaRPr lang="en-US" sz="1350" dirty="0"/>
          </a:p>
        </p:txBody>
      </p:sp>
      <p:sp>
        <p:nvSpPr>
          <p:cNvPr id="23" name="Text 21"/>
          <p:cNvSpPr/>
          <p:nvPr/>
        </p:nvSpPr>
        <p:spPr>
          <a:xfrm>
            <a:off x="10858500" y="4581525"/>
            <a:ext cx="335280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C1B19"/>
                </a:solidFill>
                <a:latin typeface="Arial" pitchFamily="34" charset="0"/>
                <a:ea typeface="Arial" pitchFamily="34" charset="-122"/>
                <a:cs typeface="Arial" pitchFamily="34" charset="-120"/>
              </a:rPr>
              <a:t>Review &amp; polish</a:t>
            </a:r>
            <a:endParaRPr lang="en-US" sz="1875" dirty="0"/>
          </a:p>
        </p:txBody>
      </p:sp>
      <p:sp>
        <p:nvSpPr>
          <p:cNvPr id="24" name="Text 22"/>
          <p:cNvSpPr/>
          <p:nvPr/>
        </p:nvSpPr>
        <p:spPr>
          <a:xfrm>
            <a:off x="10858500" y="5029200"/>
            <a:ext cx="313944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B5850"/>
                </a:solidFill>
                <a:latin typeface="Arial" pitchFamily="34" charset="0"/>
                <a:ea typeface="Arial" pitchFamily="34" charset="-122"/>
                <a:cs typeface="Arial" pitchFamily="34" charset="-120"/>
              </a:rPr>
              <a:t>You test on real devices, we fix and refine.</a:t>
            </a:r>
            <a:endParaRPr lang="en-US" sz="1650" dirty="0"/>
          </a:p>
        </p:txBody>
      </p:sp>
      <p:sp>
        <p:nvSpPr>
          <p:cNvPr id="25" name="Shape 23"/>
          <p:cNvSpPr/>
          <p:nvPr/>
        </p:nvSpPr>
        <p:spPr>
          <a:xfrm>
            <a:off x="14097000" y="3409950"/>
            <a:ext cx="609600" cy="609600"/>
          </a:xfrm>
          <a:prstGeom prst="ellipse">
            <a:avLst/>
          </a:prstGeom>
          <a:solidFill>
            <a:srgbClr val="E0562D"/>
          </a:solidFill>
          <a:ln/>
        </p:spPr>
      </p:sp>
      <p:sp>
        <p:nvSpPr>
          <p:cNvPr id="26" name="Text 24"/>
          <p:cNvSpPr/>
          <p:nvPr/>
        </p:nvSpPr>
        <p:spPr>
          <a:xfrm>
            <a:off x="14058900" y="3409950"/>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7" name="Text 25"/>
          <p:cNvSpPr/>
          <p:nvPr/>
        </p:nvSpPr>
        <p:spPr>
          <a:xfrm>
            <a:off x="14097000" y="4191000"/>
            <a:ext cx="3352800" cy="238125"/>
          </a:xfrm>
          <a:prstGeom prst="rect">
            <a:avLst/>
          </a:prstGeom>
          <a:noFill/>
          <a:ln/>
        </p:spPr>
        <p:txBody>
          <a:bodyPr wrap="square" lIns="25400" tIns="25400" rIns="25400" bIns="25400" rtlCol="0" anchor="t">
            <a:normAutofit/>
          </a:bodyPr>
          <a:lstStyle/>
          <a:p>
            <a:pPr algn="l" indent="0" marL="0">
              <a:buNone/>
            </a:pPr>
            <a:r>
              <a:rPr lang="en-US" sz="1350" b="1" spc="68" kern="0" dirty="0">
                <a:solidFill>
                  <a:srgbClr val="8C8880"/>
                </a:solidFill>
                <a:latin typeface="Arial" pitchFamily="34" charset="0"/>
                <a:ea typeface="Arial" pitchFamily="34" charset="-122"/>
                <a:cs typeface="Arial" pitchFamily="34" charset="-120"/>
              </a:rPr>
              <a:t>WEEK 6</a:t>
            </a:r>
            <a:endParaRPr lang="en-US" sz="1350" dirty="0"/>
          </a:p>
        </p:txBody>
      </p:sp>
      <p:sp>
        <p:nvSpPr>
          <p:cNvPr id="28" name="Text 26"/>
          <p:cNvSpPr/>
          <p:nvPr/>
        </p:nvSpPr>
        <p:spPr>
          <a:xfrm>
            <a:off x="14097000" y="4562475"/>
            <a:ext cx="3352800"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1C1B19"/>
                </a:solidFill>
                <a:latin typeface="Arial" pitchFamily="34" charset="0"/>
                <a:ea typeface="Arial" pitchFamily="34" charset="-122"/>
                <a:cs typeface="Arial" pitchFamily="34" charset="-120"/>
              </a:rPr>
              <a:t>Launch</a:t>
            </a:r>
            <a:endParaRPr lang="en-US" sz="1875" dirty="0"/>
          </a:p>
        </p:txBody>
      </p:sp>
      <p:sp>
        <p:nvSpPr>
          <p:cNvPr id="29" name="Text 27"/>
          <p:cNvSpPr/>
          <p:nvPr/>
        </p:nvSpPr>
        <p:spPr>
          <a:xfrm>
            <a:off x="14097000" y="5010150"/>
            <a:ext cx="313944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5B5850"/>
                </a:solidFill>
                <a:latin typeface="Arial" pitchFamily="34" charset="0"/>
                <a:ea typeface="Arial" pitchFamily="34" charset="-122"/>
                <a:cs typeface="Arial" pitchFamily="34" charset="-120"/>
              </a:rPr>
              <a:t>Site goes live, plus a walkthrough for your team.</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B"/>
        </a:solidFill>
      </p:bgPr>
    </p:bg>
    <p:spTree>
      <p:nvGrpSpPr>
        <p:cNvPr id="1" name=""/>
        <p:cNvGrpSpPr/>
        <p:nvPr/>
      </p:nvGrpSpPr>
      <p:grpSpPr>
        <a:xfrm>
          <a:off x="0" y="0"/>
          <a:ext cx="0" cy="0"/>
          <a:chOff x="0" y="0"/>
          <a:chExt cx="0" cy="0"/>
        </a:xfrm>
      </p:grpSpPr>
      <p:sp>
        <p:nvSpPr>
          <p:cNvPr id="2" name="Shape 0"/>
          <p:cNvSpPr/>
          <p:nvPr/>
        </p:nvSpPr>
        <p:spPr>
          <a:xfrm>
            <a:off x="1143000" y="1052513"/>
            <a:ext cx="209550" cy="19050"/>
          </a:xfrm>
          <a:prstGeom prst="roundRect">
            <a:avLst>
              <a:gd name="adj" fmla="val 50000"/>
            </a:avLst>
          </a:prstGeom>
          <a:solidFill>
            <a:srgbClr val="E0562D"/>
          </a:solidFill>
          <a:ln/>
        </p:spPr>
      </p:sp>
      <p:sp>
        <p:nvSpPr>
          <p:cNvPr id="3" name="Text 1"/>
          <p:cNvSpPr/>
          <p:nvPr/>
        </p:nvSpPr>
        <p:spPr>
          <a:xfrm>
            <a:off x="1466850" y="952500"/>
            <a:ext cx="1518255" cy="257175"/>
          </a:xfrm>
          <a:prstGeom prst="rect">
            <a:avLst/>
          </a:prstGeom>
          <a:noFill/>
          <a:ln/>
        </p:spPr>
        <p:txBody>
          <a:bodyPr wrap="square" lIns="25400" tIns="25400" rIns="25400" bIns="25400" rtlCol="0" anchor="t">
            <a:normAutofit/>
          </a:bodyPr>
          <a:lstStyle/>
          <a:p>
            <a:pPr algn="l" indent="0" marL="0">
              <a:buNone/>
            </a:pPr>
            <a:r>
              <a:rPr lang="en-US" sz="1500" b="1" spc="120" kern="0" dirty="0">
                <a:solidFill>
                  <a:srgbClr val="E0562D"/>
                </a:solidFill>
                <a:latin typeface="Arial" pitchFamily="34" charset="0"/>
                <a:ea typeface="Arial" pitchFamily="34" charset="-122"/>
                <a:cs typeface="Arial" pitchFamily="34" charset="-120"/>
              </a:rPr>
              <a:t>INVESTMENT</a:t>
            </a:r>
            <a:endParaRPr lang="en-US" sz="1500" dirty="0"/>
          </a:p>
        </p:txBody>
      </p:sp>
      <p:sp>
        <p:nvSpPr>
          <p:cNvPr id="4" name="Text 2"/>
          <p:cNvSpPr/>
          <p:nvPr/>
        </p:nvSpPr>
        <p:spPr>
          <a:xfrm>
            <a:off x="1143000" y="1304925"/>
            <a:ext cx="17602200" cy="514350"/>
          </a:xfrm>
          <a:prstGeom prst="rect">
            <a:avLst/>
          </a:prstGeom>
          <a:noFill/>
          <a:ln/>
        </p:spPr>
        <p:txBody>
          <a:bodyPr wrap="square" lIns="25400" tIns="25400" rIns="25400" bIns="25400" rtlCol="0" anchor="t">
            <a:normAutofit/>
          </a:bodyPr>
          <a:lstStyle/>
          <a:p>
            <a:pPr algn="l" indent="0" marL="0">
              <a:lnSpc>
                <a:spcPct val="110000"/>
              </a:lnSpc>
              <a:buNone/>
            </a:pPr>
            <a:r>
              <a:rPr lang="en-US" sz="3450" b="1" spc="-69" kern="0" dirty="0">
                <a:solidFill>
                  <a:srgbClr val="FFFFFF"/>
                </a:solidFill>
                <a:latin typeface="Arial" pitchFamily="34" charset="0"/>
                <a:ea typeface="Arial" pitchFamily="34" charset="-122"/>
                <a:cs typeface="Arial" pitchFamily="34" charset="-120"/>
              </a:rPr>
              <a:t>The full site, shop included</a:t>
            </a:r>
            <a:endParaRPr lang="en-US" sz="3450" dirty="0"/>
          </a:p>
        </p:txBody>
      </p:sp>
      <p:sp>
        <p:nvSpPr>
          <p:cNvPr id="5" name="Text 3"/>
          <p:cNvSpPr/>
          <p:nvPr/>
        </p:nvSpPr>
        <p:spPr>
          <a:xfrm>
            <a:off x="1143000" y="1876425"/>
            <a:ext cx="1048863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FFFFFF">
                    <a:alpha val="60000"/>
                  </a:srgbClr>
                </a:solidFill>
                <a:latin typeface="Arial" pitchFamily="34" charset="0"/>
                <a:ea typeface="Arial" pitchFamily="34" charset="-122"/>
                <a:cs typeface="Arial" pitchFamily="34" charset="-120"/>
              </a:rPr>
              <a:t>A homepage-only rebuild fits inside €1,000 — the full shop &amp; checkout takes more build time.</a:t>
            </a:r>
            <a:endParaRPr lang="en-US" sz="1500" dirty="0"/>
          </a:p>
        </p:txBody>
      </p:sp>
      <p:sp>
        <p:nvSpPr>
          <p:cNvPr id="6" name="Shape 4"/>
          <p:cNvSpPr/>
          <p:nvPr/>
        </p:nvSpPr>
        <p:spPr>
          <a:xfrm>
            <a:off x="1143000" y="2295525"/>
            <a:ext cx="12382500" cy="9525"/>
          </a:xfrm>
          <a:prstGeom prst="rect">
            <a:avLst/>
          </a:prstGeom>
          <a:solidFill>
            <a:srgbClr val="FFFFFF">
              <a:alpha val="16000"/>
            </a:srgbClr>
          </a:solidFill>
          <a:ln/>
        </p:spPr>
      </p:sp>
      <p:sp>
        <p:nvSpPr>
          <p:cNvPr id="7" name="Text 5"/>
          <p:cNvSpPr/>
          <p:nvPr/>
        </p:nvSpPr>
        <p:spPr>
          <a:xfrm>
            <a:off x="1143000" y="2409825"/>
            <a:ext cx="1253728"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Design</a:t>
            </a:r>
            <a:endParaRPr lang="en-US" sz="1650" dirty="0"/>
          </a:p>
        </p:txBody>
      </p:sp>
      <p:sp>
        <p:nvSpPr>
          <p:cNvPr id="8" name="Text 6"/>
          <p:cNvSpPr/>
          <p:nvPr/>
        </p:nvSpPr>
        <p:spPr>
          <a:xfrm>
            <a:off x="1143000" y="2686050"/>
            <a:ext cx="1253728" cy="20955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55000"/>
                  </a:srgbClr>
                </a:solidFill>
                <a:latin typeface="Arial" pitchFamily="34" charset="0"/>
                <a:ea typeface="Arial" pitchFamily="34" charset="-122"/>
                <a:cs typeface="Arial" pitchFamily="34" charset="-120"/>
              </a:rPr>
              <a:t>Already delivered</a:t>
            </a:r>
            <a:endParaRPr lang="en-US" sz="1200" dirty="0"/>
          </a:p>
        </p:txBody>
      </p:sp>
      <p:sp>
        <p:nvSpPr>
          <p:cNvPr id="9" name="Text 7"/>
          <p:cNvSpPr/>
          <p:nvPr/>
        </p:nvSpPr>
        <p:spPr>
          <a:xfrm>
            <a:off x="12585650" y="2500313"/>
            <a:ext cx="101605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0562D"/>
                </a:solidFill>
                <a:latin typeface="Arial" pitchFamily="34" charset="0"/>
                <a:ea typeface="Arial" pitchFamily="34" charset="-122"/>
                <a:cs typeface="Arial" pitchFamily="34" charset="-120"/>
              </a:rPr>
              <a:t>Included</a:t>
            </a:r>
            <a:endParaRPr lang="en-US" sz="1800" dirty="0"/>
          </a:p>
        </p:txBody>
      </p:sp>
      <p:sp>
        <p:nvSpPr>
          <p:cNvPr id="10" name="Shape 8"/>
          <p:cNvSpPr/>
          <p:nvPr/>
        </p:nvSpPr>
        <p:spPr>
          <a:xfrm>
            <a:off x="1143000" y="2962275"/>
            <a:ext cx="12382500" cy="9525"/>
          </a:xfrm>
          <a:prstGeom prst="rect">
            <a:avLst/>
          </a:prstGeom>
          <a:solidFill>
            <a:srgbClr val="FFFFFF">
              <a:alpha val="16000"/>
            </a:srgbClr>
          </a:solidFill>
          <a:ln/>
        </p:spPr>
      </p:sp>
      <p:sp>
        <p:nvSpPr>
          <p:cNvPr id="11" name="Text 9"/>
          <p:cNvSpPr/>
          <p:nvPr/>
        </p:nvSpPr>
        <p:spPr>
          <a:xfrm>
            <a:off x="1143000" y="3076575"/>
            <a:ext cx="3766989"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Homepage &amp; core pages</a:t>
            </a:r>
            <a:endParaRPr lang="en-US" sz="1650" dirty="0"/>
          </a:p>
        </p:txBody>
      </p:sp>
      <p:sp>
        <p:nvSpPr>
          <p:cNvPr id="12" name="Text 10"/>
          <p:cNvSpPr/>
          <p:nvPr/>
        </p:nvSpPr>
        <p:spPr>
          <a:xfrm>
            <a:off x="1143000" y="3352800"/>
            <a:ext cx="3766989" cy="20955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55000"/>
                  </a:srgbClr>
                </a:solidFill>
                <a:latin typeface="Arial" pitchFamily="34" charset="0"/>
                <a:ea typeface="Arial" pitchFamily="34" charset="-122"/>
                <a:cs typeface="Arial" pitchFamily="34" charset="-120"/>
              </a:rPr>
              <a:t>Home, story, gallery, process — mobile-responsive</a:t>
            </a:r>
            <a:endParaRPr lang="en-US" sz="1200" dirty="0"/>
          </a:p>
        </p:txBody>
      </p:sp>
      <p:sp>
        <p:nvSpPr>
          <p:cNvPr id="13" name="Text 11"/>
          <p:cNvSpPr/>
          <p:nvPr/>
        </p:nvSpPr>
        <p:spPr>
          <a:xfrm>
            <a:off x="13016954" y="3167063"/>
            <a:ext cx="584746"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€900</a:t>
            </a:r>
            <a:endParaRPr lang="en-US" sz="1800" dirty="0"/>
          </a:p>
        </p:txBody>
      </p:sp>
      <p:sp>
        <p:nvSpPr>
          <p:cNvPr id="14" name="Shape 12"/>
          <p:cNvSpPr/>
          <p:nvPr/>
        </p:nvSpPr>
        <p:spPr>
          <a:xfrm>
            <a:off x="1143000" y="3629025"/>
            <a:ext cx="12382500" cy="9525"/>
          </a:xfrm>
          <a:prstGeom prst="rect">
            <a:avLst/>
          </a:prstGeom>
          <a:solidFill>
            <a:srgbClr val="FFFFFF">
              <a:alpha val="16000"/>
            </a:srgbClr>
          </a:solidFill>
          <a:ln/>
        </p:spPr>
      </p:sp>
      <p:sp>
        <p:nvSpPr>
          <p:cNvPr id="15" name="Text 13"/>
          <p:cNvSpPr/>
          <p:nvPr/>
        </p:nvSpPr>
        <p:spPr>
          <a:xfrm>
            <a:off x="1143000" y="3743325"/>
            <a:ext cx="5186690"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Shop, 6 product pages &amp; checkout</a:t>
            </a:r>
            <a:endParaRPr lang="en-US" sz="1650" dirty="0"/>
          </a:p>
        </p:txBody>
      </p:sp>
      <p:sp>
        <p:nvSpPr>
          <p:cNvPr id="16" name="Text 14"/>
          <p:cNvSpPr/>
          <p:nvPr/>
        </p:nvSpPr>
        <p:spPr>
          <a:xfrm>
            <a:off x="1143000" y="4019550"/>
            <a:ext cx="5186690" cy="20955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55000"/>
                  </a:srgbClr>
                </a:solidFill>
                <a:latin typeface="Arial" pitchFamily="34" charset="0"/>
                <a:ea typeface="Arial" pitchFamily="34" charset="-122"/>
                <a:cs typeface="Arial" pitchFamily="34" charset="-120"/>
              </a:rPr>
              <a:t>WooCommerce, product pages, cart &amp; checkout — mobile-responsive</a:t>
            </a:r>
            <a:endParaRPr lang="en-US" sz="1200" dirty="0"/>
          </a:p>
        </p:txBody>
      </p:sp>
      <p:sp>
        <p:nvSpPr>
          <p:cNvPr id="17" name="Text 15"/>
          <p:cNvSpPr/>
          <p:nvPr/>
        </p:nvSpPr>
        <p:spPr>
          <a:xfrm>
            <a:off x="13016954" y="3833812"/>
            <a:ext cx="584746"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€800</a:t>
            </a:r>
            <a:endParaRPr lang="en-US" sz="1800" dirty="0"/>
          </a:p>
        </p:txBody>
      </p:sp>
      <p:sp>
        <p:nvSpPr>
          <p:cNvPr id="18" name="Shape 16"/>
          <p:cNvSpPr/>
          <p:nvPr/>
        </p:nvSpPr>
        <p:spPr>
          <a:xfrm>
            <a:off x="1143000" y="4295775"/>
            <a:ext cx="12382500" cy="9525"/>
          </a:xfrm>
          <a:prstGeom prst="rect">
            <a:avLst/>
          </a:prstGeom>
          <a:solidFill>
            <a:srgbClr val="FFFFFF">
              <a:alpha val="16000"/>
            </a:srgbClr>
          </a:solidFill>
          <a:ln/>
        </p:spPr>
      </p:sp>
      <p:sp>
        <p:nvSpPr>
          <p:cNvPr id="19" name="Text 17"/>
          <p:cNvSpPr/>
          <p:nvPr/>
        </p:nvSpPr>
        <p:spPr>
          <a:xfrm>
            <a:off x="1143000" y="4410075"/>
            <a:ext cx="4761369"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Legal pages, translation, testing &amp; handoff</a:t>
            </a:r>
            <a:endParaRPr lang="en-US" sz="1650" dirty="0"/>
          </a:p>
        </p:txBody>
      </p:sp>
      <p:sp>
        <p:nvSpPr>
          <p:cNvPr id="20" name="Text 18"/>
          <p:cNvSpPr/>
          <p:nvPr/>
        </p:nvSpPr>
        <p:spPr>
          <a:xfrm>
            <a:off x="1143000" y="4686300"/>
            <a:ext cx="4761369" cy="20955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55000"/>
                  </a:srgbClr>
                </a:solidFill>
                <a:latin typeface="Arial" pitchFamily="34" charset="0"/>
                <a:ea typeface="Arial" pitchFamily="34" charset="-122"/>
                <a:cs typeface="Arial" pitchFamily="34" charset="-120"/>
              </a:rPr>
              <a:t>Impressum, Datenschutz, English version, QA, launch &amp; training</a:t>
            </a:r>
            <a:endParaRPr lang="en-US" sz="1200" dirty="0"/>
          </a:p>
        </p:txBody>
      </p:sp>
      <p:sp>
        <p:nvSpPr>
          <p:cNvPr id="21" name="Text 19"/>
          <p:cNvSpPr/>
          <p:nvPr/>
        </p:nvSpPr>
        <p:spPr>
          <a:xfrm>
            <a:off x="13016954" y="4500563"/>
            <a:ext cx="584746"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€300</a:t>
            </a:r>
            <a:endParaRPr lang="en-US" sz="1800" dirty="0"/>
          </a:p>
        </p:txBody>
      </p:sp>
      <p:sp>
        <p:nvSpPr>
          <p:cNvPr id="22" name="Shape 20"/>
          <p:cNvSpPr/>
          <p:nvPr/>
        </p:nvSpPr>
        <p:spPr>
          <a:xfrm>
            <a:off x="1143000" y="5629275"/>
            <a:ext cx="12382500" cy="9525"/>
          </a:xfrm>
          <a:prstGeom prst="rect">
            <a:avLst/>
          </a:prstGeom>
          <a:solidFill>
            <a:srgbClr val="FFFFFF">
              <a:alpha val="16000"/>
            </a:srgbClr>
          </a:solidFill>
          <a:ln/>
        </p:spPr>
      </p:sp>
      <p:sp>
        <p:nvSpPr>
          <p:cNvPr id="23" name="Shape 21"/>
          <p:cNvSpPr/>
          <p:nvPr/>
        </p:nvSpPr>
        <p:spPr>
          <a:xfrm>
            <a:off x="1143000" y="4962525"/>
            <a:ext cx="12382500" cy="9525"/>
          </a:xfrm>
          <a:prstGeom prst="rect">
            <a:avLst/>
          </a:prstGeom>
          <a:solidFill>
            <a:srgbClr val="FFFFFF">
              <a:alpha val="16000"/>
            </a:srgbClr>
          </a:solidFill>
          <a:ln/>
        </p:spPr>
      </p:sp>
      <p:sp>
        <p:nvSpPr>
          <p:cNvPr id="24" name="Text 22"/>
          <p:cNvSpPr/>
          <p:nvPr/>
        </p:nvSpPr>
        <p:spPr>
          <a:xfrm>
            <a:off x="1143000" y="5076825"/>
            <a:ext cx="3093809"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1 year of support included</a:t>
            </a:r>
            <a:endParaRPr lang="en-US" sz="1650" dirty="0"/>
          </a:p>
        </p:txBody>
      </p:sp>
      <p:sp>
        <p:nvSpPr>
          <p:cNvPr id="25" name="Text 23"/>
          <p:cNvSpPr/>
          <p:nvPr/>
        </p:nvSpPr>
        <p:spPr>
          <a:xfrm>
            <a:off x="1143000" y="5353050"/>
            <a:ext cx="3093809" cy="209550"/>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55000"/>
                  </a:srgbClr>
                </a:solidFill>
                <a:latin typeface="Arial" pitchFamily="34" charset="0"/>
                <a:ea typeface="Arial" pitchFamily="34" charset="-122"/>
                <a:cs typeface="Arial" pitchFamily="34" charset="-120"/>
              </a:rPr>
              <a:t>Small changes for 12 months after launch</a:t>
            </a:r>
            <a:endParaRPr lang="en-US" sz="1200" dirty="0"/>
          </a:p>
        </p:txBody>
      </p:sp>
      <p:sp>
        <p:nvSpPr>
          <p:cNvPr id="26" name="Text 24"/>
          <p:cNvSpPr/>
          <p:nvPr/>
        </p:nvSpPr>
        <p:spPr>
          <a:xfrm>
            <a:off x="12585650" y="5167313"/>
            <a:ext cx="101605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0562D"/>
                </a:solidFill>
                <a:latin typeface="Arial" pitchFamily="34" charset="0"/>
                <a:ea typeface="Arial" pitchFamily="34" charset="-122"/>
                <a:cs typeface="Arial" pitchFamily="34" charset="-120"/>
              </a:rPr>
              <a:t>Included</a:t>
            </a:r>
            <a:endParaRPr lang="en-US" sz="1800" dirty="0"/>
          </a:p>
        </p:txBody>
      </p:sp>
      <p:sp>
        <p:nvSpPr>
          <p:cNvPr id="27" name="Text 25"/>
          <p:cNvSpPr/>
          <p:nvPr/>
        </p:nvSpPr>
        <p:spPr>
          <a:xfrm>
            <a:off x="1143000" y="5900738"/>
            <a:ext cx="649486"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Total</a:t>
            </a:r>
            <a:endParaRPr lang="en-US" sz="1950" dirty="0"/>
          </a:p>
        </p:txBody>
      </p:sp>
      <p:sp>
        <p:nvSpPr>
          <p:cNvPr id="28" name="Text 26"/>
          <p:cNvSpPr/>
          <p:nvPr/>
        </p:nvSpPr>
        <p:spPr>
          <a:xfrm>
            <a:off x="12243643" y="5810250"/>
            <a:ext cx="1410042"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E0562D"/>
                </a:solidFill>
                <a:latin typeface="Arial" pitchFamily="34" charset="0"/>
                <a:ea typeface="Arial" pitchFamily="34" charset="-122"/>
                <a:cs typeface="Arial" pitchFamily="34" charset="-120"/>
              </a:rPr>
              <a:t>€2,000</a:t>
            </a:r>
            <a:endParaRPr lang="en-US" sz="3300" dirty="0"/>
          </a:p>
        </p:txBody>
      </p:sp>
      <p:sp>
        <p:nvSpPr>
          <p:cNvPr id="29" name="Text 27"/>
          <p:cNvSpPr/>
          <p:nvPr/>
        </p:nvSpPr>
        <p:spPr>
          <a:xfrm>
            <a:off x="1143000" y="6419850"/>
            <a:ext cx="1760220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FFFFFF">
                    <a:alpha val="55000"/>
                  </a:srgbClr>
                </a:solidFill>
                <a:latin typeface="Arial" pitchFamily="34" charset="0"/>
                <a:ea typeface="Arial" pitchFamily="34" charset="-122"/>
                <a:cs typeface="Arial" pitchFamily="34" charset="-120"/>
              </a:rPr>
              <a:t>Can be phased — homepage first, shop and checkout as a second stage.</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1143000" y="1066800"/>
            <a:ext cx="209550" cy="19050"/>
          </a:xfrm>
          <a:prstGeom prst="roundRect">
            <a:avLst>
              <a:gd name="adj" fmla="val 50000"/>
            </a:avLst>
          </a:prstGeom>
          <a:solidFill>
            <a:srgbClr val="E0562D"/>
          </a:solidFill>
          <a:ln/>
        </p:spPr>
      </p:sp>
      <p:sp>
        <p:nvSpPr>
          <p:cNvPr id="3" name="Text 1"/>
          <p:cNvSpPr/>
          <p:nvPr/>
        </p:nvSpPr>
        <p:spPr>
          <a:xfrm>
            <a:off x="1466850" y="952500"/>
            <a:ext cx="1619101" cy="2857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B8431F"/>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1143000" y="1466850"/>
            <a:ext cx="5587222" cy="1371600"/>
          </a:xfrm>
          <a:prstGeom prst="rect">
            <a:avLst/>
          </a:prstGeom>
          <a:noFill/>
          <a:ln/>
        </p:spPr>
        <p:txBody>
          <a:bodyPr wrap="square" lIns="25400" tIns="25400" rIns="25400" bIns="25400" rtlCol="0" anchor="t">
            <a:normAutofit/>
          </a:bodyPr>
          <a:lstStyle/>
          <a:p>
            <a:pPr algn="l" indent="0" marL="0">
              <a:lnSpc>
                <a:spcPct val="110000"/>
              </a:lnSpc>
              <a:buNone/>
            </a:pPr>
            <a:r>
              <a:rPr lang="en-US" sz="4800" b="1" spc="-96" kern="0" dirty="0">
                <a:solidFill>
                  <a:srgbClr val="1C1B19"/>
                </a:solidFill>
                <a:latin typeface="Arial" pitchFamily="34" charset="0"/>
                <a:ea typeface="Arial" pitchFamily="34" charset="-122"/>
                <a:cs typeface="Arial" pitchFamily="34" charset="-120"/>
              </a:rPr>
              <a:t>Let's get you flying online</a:t>
            </a:r>
            <a:endParaRPr lang="en-US" sz="4800" dirty="0"/>
          </a:p>
        </p:txBody>
      </p:sp>
      <p:sp>
        <p:nvSpPr>
          <p:cNvPr id="5" name="Shape 3"/>
          <p:cNvSpPr/>
          <p:nvPr/>
        </p:nvSpPr>
        <p:spPr>
          <a:xfrm>
            <a:off x="1143000" y="3409950"/>
            <a:ext cx="5156150" cy="2324100"/>
          </a:xfrm>
          <a:prstGeom prst="roundRect">
            <a:avLst>
              <a:gd name="adj" fmla="val 11475"/>
            </a:avLst>
          </a:prstGeom>
          <a:solidFill>
            <a:srgbClr val="FFFFFF"/>
          </a:solidFill>
          <a:ln w="9525">
            <a:solidFill>
              <a:srgbClr val="1C1B19">
                <a:alpha val="10000"/>
              </a:srgbClr>
            </a:solidFill>
            <a:prstDash val="solid"/>
          </a:ln>
        </p:spPr>
      </p:sp>
      <p:sp>
        <p:nvSpPr>
          <p:cNvPr id="6" name="Text 4"/>
          <p:cNvSpPr/>
          <p:nvPr/>
        </p:nvSpPr>
        <p:spPr>
          <a:xfrm>
            <a:off x="1533525" y="3800475"/>
            <a:ext cx="481261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E0562D"/>
                </a:solidFill>
                <a:latin typeface="Arial" pitchFamily="34" charset="0"/>
                <a:ea typeface="Arial" pitchFamily="34" charset="-122"/>
                <a:cs typeface="Arial" pitchFamily="34" charset="-120"/>
              </a:rPr>
              <a:t>1</a:t>
            </a:r>
            <a:endParaRPr lang="en-US" sz="2700" dirty="0"/>
          </a:p>
        </p:txBody>
      </p:sp>
      <p:sp>
        <p:nvSpPr>
          <p:cNvPr id="7" name="Text 5"/>
          <p:cNvSpPr/>
          <p:nvPr/>
        </p:nvSpPr>
        <p:spPr>
          <a:xfrm>
            <a:off x="1533525" y="4352925"/>
            <a:ext cx="481261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Approve the plan</a:t>
            </a:r>
            <a:endParaRPr lang="en-US" sz="2100" dirty="0"/>
          </a:p>
        </p:txBody>
      </p:sp>
      <p:sp>
        <p:nvSpPr>
          <p:cNvPr id="8" name="Text 6"/>
          <p:cNvSpPr/>
          <p:nvPr/>
        </p:nvSpPr>
        <p:spPr>
          <a:xfrm>
            <a:off x="1533525" y="4810125"/>
            <a:ext cx="450635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5B5850"/>
                </a:solidFill>
                <a:latin typeface="Arial" pitchFamily="34" charset="0"/>
                <a:ea typeface="Arial" pitchFamily="34" charset="-122"/>
                <a:cs typeface="Arial" pitchFamily="34" charset="-120"/>
              </a:rPr>
              <a:t>Confirm the design, timeline and budget above.</a:t>
            </a:r>
            <a:endParaRPr lang="en-US" sz="1800" dirty="0"/>
          </a:p>
        </p:txBody>
      </p:sp>
      <p:sp>
        <p:nvSpPr>
          <p:cNvPr id="9" name="Shape 7"/>
          <p:cNvSpPr/>
          <p:nvPr/>
        </p:nvSpPr>
        <p:spPr>
          <a:xfrm>
            <a:off x="6565850" y="3409950"/>
            <a:ext cx="5156150" cy="2324100"/>
          </a:xfrm>
          <a:prstGeom prst="roundRect">
            <a:avLst>
              <a:gd name="adj" fmla="val 11475"/>
            </a:avLst>
          </a:prstGeom>
          <a:solidFill>
            <a:srgbClr val="FFFFFF"/>
          </a:solidFill>
          <a:ln w="9525">
            <a:solidFill>
              <a:srgbClr val="1C1B19">
                <a:alpha val="10000"/>
              </a:srgbClr>
            </a:solidFill>
            <a:prstDash val="solid"/>
          </a:ln>
        </p:spPr>
      </p:sp>
      <p:sp>
        <p:nvSpPr>
          <p:cNvPr id="10" name="Text 8"/>
          <p:cNvSpPr/>
          <p:nvPr/>
        </p:nvSpPr>
        <p:spPr>
          <a:xfrm>
            <a:off x="6956375" y="3800475"/>
            <a:ext cx="4812610"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E0562D"/>
                </a:solidFill>
                <a:latin typeface="Arial" pitchFamily="34" charset="0"/>
                <a:ea typeface="Arial" pitchFamily="34" charset="-122"/>
                <a:cs typeface="Arial" pitchFamily="34" charset="-120"/>
              </a:rPr>
              <a:t>2</a:t>
            </a:r>
            <a:endParaRPr lang="en-US" sz="2700" dirty="0"/>
          </a:p>
        </p:txBody>
      </p:sp>
      <p:sp>
        <p:nvSpPr>
          <p:cNvPr id="11" name="Text 9"/>
          <p:cNvSpPr/>
          <p:nvPr/>
        </p:nvSpPr>
        <p:spPr>
          <a:xfrm>
            <a:off x="6956375" y="4352925"/>
            <a:ext cx="481261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Share your content</a:t>
            </a:r>
            <a:endParaRPr lang="en-US" sz="2100" dirty="0"/>
          </a:p>
        </p:txBody>
      </p:sp>
      <p:sp>
        <p:nvSpPr>
          <p:cNvPr id="12" name="Text 10"/>
          <p:cNvSpPr/>
          <p:nvPr/>
        </p:nvSpPr>
        <p:spPr>
          <a:xfrm>
            <a:off x="6956375" y="4810125"/>
            <a:ext cx="4506353" cy="571500"/>
          </a:xfrm>
          <a:prstGeom prst="rect">
            <a:avLst/>
          </a:prstGeom>
          <a:noFill/>
          <a:ln/>
        </p:spPr>
        <p:txBody>
          <a:bodyPr wrap="square" lIns="25400" tIns="25400" rIns="25400" bIns="25400" rtlCol="0" anchor="t">
            <a:normAutofit/>
          </a:bodyPr>
          <a:lstStyle/>
          <a:p>
            <a:pPr algn="l" indent="0" marL="0">
              <a:buNone/>
            </a:pPr>
            <a:r>
              <a:rPr lang="en-US" sz="1800" dirty="0">
                <a:solidFill>
                  <a:srgbClr val="5B5850"/>
                </a:solidFill>
                <a:latin typeface="Arial" pitchFamily="34" charset="0"/>
                <a:ea typeface="Arial" pitchFamily="34" charset="-122"/>
                <a:cs typeface="Arial" pitchFamily="34" charset="-120"/>
              </a:rPr>
              <a:t>Send final photos, prices and any text updates.</a:t>
            </a:r>
            <a:endParaRPr lang="en-US" sz="1800" dirty="0"/>
          </a:p>
        </p:txBody>
      </p:sp>
      <p:sp>
        <p:nvSpPr>
          <p:cNvPr id="13" name="Shape 11"/>
          <p:cNvSpPr/>
          <p:nvPr/>
        </p:nvSpPr>
        <p:spPr>
          <a:xfrm>
            <a:off x="11988701" y="3409950"/>
            <a:ext cx="5156299" cy="2324100"/>
          </a:xfrm>
          <a:prstGeom prst="roundRect">
            <a:avLst>
              <a:gd name="adj" fmla="val 11475"/>
            </a:avLst>
          </a:prstGeom>
          <a:solidFill>
            <a:srgbClr val="FFFFFF"/>
          </a:solidFill>
          <a:ln w="9525">
            <a:solidFill>
              <a:srgbClr val="1C1B19">
                <a:alpha val="10000"/>
              </a:srgbClr>
            </a:solidFill>
            <a:prstDash val="solid"/>
          </a:ln>
        </p:spPr>
      </p:sp>
      <p:sp>
        <p:nvSpPr>
          <p:cNvPr id="14" name="Text 12"/>
          <p:cNvSpPr/>
          <p:nvPr/>
        </p:nvSpPr>
        <p:spPr>
          <a:xfrm>
            <a:off x="12379226" y="3800475"/>
            <a:ext cx="4812774"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E0562D"/>
                </a:solidFill>
                <a:latin typeface="Arial" pitchFamily="34" charset="0"/>
                <a:ea typeface="Arial" pitchFamily="34" charset="-122"/>
                <a:cs typeface="Arial" pitchFamily="34" charset="-120"/>
              </a:rPr>
              <a:t>3</a:t>
            </a:r>
            <a:endParaRPr lang="en-US" sz="2700" dirty="0"/>
          </a:p>
        </p:txBody>
      </p:sp>
      <p:sp>
        <p:nvSpPr>
          <p:cNvPr id="15" name="Text 13"/>
          <p:cNvSpPr/>
          <p:nvPr/>
        </p:nvSpPr>
        <p:spPr>
          <a:xfrm>
            <a:off x="12379226" y="4352925"/>
            <a:ext cx="4812774"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C1B19"/>
                </a:solidFill>
                <a:latin typeface="Arial" pitchFamily="34" charset="0"/>
                <a:ea typeface="Arial" pitchFamily="34" charset="-122"/>
                <a:cs typeface="Arial" pitchFamily="34" charset="-120"/>
              </a:rPr>
              <a:t>We build &amp; launch</a:t>
            </a:r>
            <a:endParaRPr lang="en-US" sz="2100" dirty="0"/>
          </a:p>
        </p:txBody>
      </p:sp>
      <p:sp>
        <p:nvSpPr>
          <p:cNvPr id="16" name="Text 14"/>
          <p:cNvSpPr/>
          <p:nvPr/>
        </p:nvSpPr>
        <p:spPr>
          <a:xfrm>
            <a:off x="12379226" y="4810125"/>
            <a:ext cx="4506507" cy="571500"/>
          </a:xfrm>
          <a:prstGeom prst="rect">
            <a:avLst/>
          </a:prstGeom>
          <a:noFill/>
          <a:ln/>
        </p:spPr>
        <p:txBody>
          <a:bodyPr wrap="square" lIns="25400" tIns="25400" rIns="25400" bIns="25400" rtlCol="0" anchor="t">
            <a:normAutofit/>
          </a:bodyPr>
          <a:lstStyle/>
          <a:p>
            <a:pPr algn="l" indent="0" marL="0">
              <a:buNone/>
            </a:pPr>
            <a:r>
              <a:rPr lang="en-US" sz="1800" dirty="0">
                <a:solidFill>
                  <a:srgbClr val="5B5850"/>
                </a:solidFill>
                <a:latin typeface="Arial" pitchFamily="34" charset="0"/>
                <a:ea typeface="Arial" pitchFamily="34" charset="-122"/>
                <a:cs typeface="Arial" pitchFamily="34" charset="-120"/>
              </a:rPr>
              <a:t>Four weeks from kickoff to a live WordPress site.</a:t>
            </a:r>
            <a:endParaRPr lang="en-US" sz="1800" dirty="0"/>
          </a:p>
        </p:txBody>
      </p:sp>
      <p:sp>
        <p:nvSpPr>
          <p:cNvPr id="17" name="Shape 15"/>
          <p:cNvSpPr/>
          <p:nvPr/>
        </p:nvSpPr>
        <p:spPr>
          <a:xfrm>
            <a:off x="1143000" y="6343650"/>
            <a:ext cx="16002000" cy="1266825"/>
          </a:xfrm>
          <a:prstGeom prst="roundRect">
            <a:avLst>
              <a:gd name="adj" fmla="val 21053"/>
            </a:avLst>
          </a:prstGeom>
          <a:solidFill>
            <a:srgbClr val="14181B"/>
          </a:solidFill>
          <a:ln/>
        </p:spPr>
      </p:sp>
      <p:sp>
        <p:nvSpPr>
          <p:cNvPr id="18" name="Text 16"/>
          <p:cNvSpPr/>
          <p:nvPr/>
        </p:nvSpPr>
        <p:spPr>
          <a:xfrm>
            <a:off x="1676400" y="6800850"/>
            <a:ext cx="3335283"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Ready when you are.</a:t>
            </a:r>
            <a:endParaRPr lang="en-US" sz="2400" dirty="0"/>
          </a:p>
        </p:txBody>
      </p:sp>
      <p:sp>
        <p:nvSpPr>
          <p:cNvPr id="19" name="Text 17"/>
          <p:cNvSpPr/>
          <p:nvPr/>
        </p:nvSpPr>
        <p:spPr>
          <a:xfrm>
            <a:off x="12899380" y="6829425"/>
            <a:ext cx="4083442" cy="333375"/>
          </a:xfrm>
          <a:prstGeom prst="rect">
            <a:avLst/>
          </a:prstGeom>
          <a:noFill/>
          <a:ln/>
        </p:spPr>
        <p:txBody>
          <a:bodyPr wrap="square" lIns="25400" tIns="25400" rIns="25400" bIns="25400" rtlCol="0" anchor="t">
            <a:normAutofit/>
          </a:bodyPr>
          <a:lstStyle/>
          <a:p>
            <a:pPr algn="l" indent="0" marL="0">
              <a:buNone/>
            </a:pPr>
            <a:r>
              <a:rPr lang="en-US" sz="1950" dirty="0">
                <a:solidFill>
                  <a:srgbClr val="FFFFFF">
                    <a:alpha val="78000"/>
                  </a:srgbClr>
                </a:solidFill>
                <a:latin typeface="Arial" pitchFamily="34" charset="0"/>
                <a:ea typeface="Arial" pitchFamily="34" charset="-122"/>
                <a:cs typeface="Arial" pitchFamily="34" charset="-120"/>
              </a:rPr>
              <a:t>Yana Harcourt · yanaharcourt.dev</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2026-07-07T12:39:17Z</dcterms:created>
  <dcterms:modified xsi:type="dcterms:W3CDTF">2026-07-07T12:39:17Z</dcterms:modified>
</cp:coreProperties>
</file>